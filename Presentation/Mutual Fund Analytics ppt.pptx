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46AE70-4CE4-4DD1-9426-DA3A24FC90B9}" type="datetimeFigureOut">
              <a:rPr lang="en-US" smtClean="0"/>
              <a:t>28-Jun-26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DFCA8D87-1F84-4601-9BDA-0421E1D16C77}" type="slidenum">
              <a:rPr lang="en-US" smtClean="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923037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46AE70-4CE4-4DD1-9426-DA3A24FC90B9}" type="datetimeFigureOut">
              <a:rPr lang="en-US" smtClean="0"/>
              <a:t>28-Jun-26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CA8D87-1F84-4601-9BDA-0421E1D16C77}" type="slidenum">
              <a:rPr lang="en-US" smtClean="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119372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46AE70-4CE4-4DD1-9426-DA3A24FC90B9}" type="datetimeFigureOut">
              <a:rPr lang="en-US" smtClean="0"/>
              <a:t>28-Jun-26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CA8D87-1F84-4601-9BDA-0421E1D16C77}" type="slidenum">
              <a:rPr lang="en-US" smtClean="0"/>
              <a:t>‹#›</a:t>
            </a:fld>
            <a:endParaRPr lang="en-US"/>
          </a:p>
        </p:txBody>
      </p:sp>
    </p:spTree>
    <p:extLst>
      <p:ext uri="{BB962C8B-B14F-4D97-AF65-F5344CB8AC3E}">
        <p14:creationId xmlns:p14="http://schemas.microsoft.com/office/powerpoint/2010/main" val="3348524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46AE70-4CE4-4DD1-9426-DA3A24FC90B9}" type="datetimeFigureOut">
              <a:rPr lang="en-US" smtClean="0"/>
              <a:t>28-Jun-26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CA8D87-1F84-4601-9BDA-0421E1D16C77}"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42653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46AE70-4CE4-4DD1-9426-DA3A24FC90B9}" type="datetimeFigureOut">
              <a:rPr lang="en-US" smtClean="0"/>
              <a:t>28-Jun-26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CA8D87-1F84-4601-9BDA-0421E1D16C77}" type="slidenum">
              <a:rPr lang="en-US" smtClean="0"/>
              <a:t>‹#›</a:t>
            </a:fld>
            <a:endParaRPr lang="en-US"/>
          </a:p>
        </p:txBody>
      </p:sp>
    </p:spTree>
    <p:extLst>
      <p:ext uri="{BB962C8B-B14F-4D97-AF65-F5344CB8AC3E}">
        <p14:creationId xmlns:p14="http://schemas.microsoft.com/office/powerpoint/2010/main" val="2427817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46AE70-4CE4-4DD1-9426-DA3A24FC90B9}" type="datetimeFigureOut">
              <a:rPr lang="en-US" smtClean="0"/>
              <a:t>28-Jun-26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CA8D87-1F84-4601-9BDA-0421E1D16C77}"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13067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946AE70-4CE4-4DD1-9426-DA3A24FC90B9}" type="datetimeFigureOut">
              <a:rPr lang="en-US" smtClean="0"/>
              <a:t>28-Jun-26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CA8D87-1F84-4601-9BDA-0421E1D16C77}" type="slidenum">
              <a:rPr lang="en-US" smtClean="0"/>
              <a:t>‹#›</a:t>
            </a:fld>
            <a:endParaRPr lang="en-US"/>
          </a:p>
        </p:txBody>
      </p:sp>
    </p:spTree>
    <p:extLst>
      <p:ext uri="{BB962C8B-B14F-4D97-AF65-F5344CB8AC3E}">
        <p14:creationId xmlns:p14="http://schemas.microsoft.com/office/powerpoint/2010/main" val="3340371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46AE70-4CE4-4DD1-9426-DA3A24FC90B9}" type="datetimeFigureOut">
              <a:rPr lang="en-US" smtClean="0"/>
              <a:t>28-Jun-26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CA8D87-1F84-4601-9BDA-0421E1D16C77}" type="slidenum">
              <a:rPr lang="en-US" smtClean="0"/>
              <a:t>‹#›</a:t>
            </a:fld>
            <a:endParaRPr lang="en-US"/>
          </a:p>
        </p:txBody>
      </p:sp>
    </p:spTree>
    <p:extLst>
      <p:ext uri="{BB962C8B-B14F-4D97-AF65-F5344CB8AC3E}">
        <p14:creationId xmlns:p14="http://schemas.microsoft.com/office/powerpoint/2010/main" val="2810629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46AE70-4CE4-4DD1-9426-DA3A24FC90B9}" type="datetimeFigureOut">
              <a:rPr lang="en-US" smtClean="0"/>
              <a:t>28-Jun-26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CA8D87-1F84-4601-9BDA-0421E1D16C77}" type="slidenum">
              <a:rPr lang="en-US" smtClean="0"/>
              <a:t>‹#›</a:t>
            </a:fld>
            <a:endParaRPr lang="en-US"/>
          </a:p>
        </p:txBody>
      </p:sp>
    </p:spTree>
    <p:extLst>
      <p:ext uri="{BB962C8B-B14F-4D97-AF65-F5344CB8AC3E}">
        <p14:creationId xmlns:p14="http://schemas.microsoft.com/office/powerpoint/2010/main" val="476910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46AE70-4CE4-4DD1-9426-DA3A24FC90B9}" type="datetimeFigureOut">
              <a:rPr lang="en-US" smtClean="0"/>
              <a:t>28-Jun-26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CA8D87-1F84-4601-9BDA-0421E1D16C77}" type="slidenum">
              <a:rPr lang="en-US" smtClean="0"/>
              <a:t>‹#›</a:t>
            </a:fld>
            <a:endParaRPr lang="en-US"/>
          </a:p>
        </p:txBody>
      </p:sp>
    </p:spTree>
    <p:extLst>
      <p:ext uri="{BB962C8B-B14F-4D97-AF65-F5344CB8AC3E}">
        <p14:creationId xmlns:p14="http://schemas.microsoft.com/office/powerpoint/2010/main" val="3863773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46AE70-4CE4-4DD1-9426-DA3A24FC90B9}" type="datetimeFigureOut">
              <a:rPr lang="en-US" smtClean="0"/>
              <a:t>28-Jun-26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CA8D87-1F84-4601-9BDA-0421E1D16C77}" type="slidenum">
              <a:rPr lang="en-US" smtClean="0"/>
              <a:t>‹#›</a:t>
            </a:fld>
            <a:endParaRPr lang="en-US"/>
          </a:p>
        </p:txBody>
      </p:sp>
    </p:spTree>
    <p:extLst>
      <p:ext uri="{BB962C8B-B14F-4D97-AF65-F5344CB8AC3E}">
        <p14:creationId xmlns:p14="http://schemas.microsoft.com/office/powerpoint/2010/main" val="349347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4946AE70-4CE4-4DD1-9426-DA3A24FC90B9}" type="datetimeFigureOut">
              <a:rPr lang="en-US" smtClean="0"/>
              <a:t>28-Jun-26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DFCA8D87-1F84-4601-9BDA-0421E1D16C77}" type="slidenum">
              <a:rPr lang="en-US" smtClean="0"/>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04392910"/>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mailto:your.email@exampl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0B168-D23C-9A30-4743-60A05D6D82FB}"/>
              </a:ext>
            </a:extLst>
          </p:cNvPr>
          <p:cNvSpPr>
            <a:spLocks noGrp="1"/>
          </p:cNvSpPr>
          <p:nvPr>
            <p:ph type="ctrTitle"/>
          </p:nvPr>
        </p:nvSpPr>
        <p:spPr>
          <a:xfrm>
            <a:off x="1671484" y="1160441"/>
            <a:ext cx="6861080" cy="2268559"/>
          </a:xfrm>
        </p:spPr>
        <p:txBody>
          <a:bodyPr>
            <a:normAutofit fontScale="90000"/>
          </a:bodyPr>
          <a:lstStyle/>
          <a:p>
            <a:pPr algn="ctr"/>
            <a:r>
              <a:rPr lang="en-US" dirty="0">
                <a:solidFill>
                  <a:schemeClr val="tx2"/>
                </a:solidFill>
              </a:rPr>
              <a:t>Mutual Fund Analytics Dashboard</a:t>
            </a:r>
          </a:p>
        </p:txBody>
      </p:sp>
      <p:sp>
        <p:nvSpPr>
          <p:cNvPr id="3" name="Subtitle 2">
            <a:extLst>
              <a:ext uri="{FF2B5EF4-FFF2-40B4-BE49-F238E27FC236}">
                <a16:creationId xmlns:a16="http://schemas.microsoft.com/office/drawing/2014/main" id="{5D81E6E7-4D11-AF8D-673D-578F2F679B1E}"/>
              </a:ext>
            </a:extLst>
          </p:cNvPr>
          <p:cNvSpPr>
            <a:spLocks noGrp="1"/>
          </p:cNvSpPr>
          <p:nvPr>
            <p:ph type="subTitle" idx="1"/>
          </p:nvPr>
        </p:nvSpPr>
        <p:spPr>
          <a:xfrm>
            <a:off x="2291505" y="4890635"/>
            <a:ext cx="5357600" cy="1160213"/>
          </a:xfrm>
        </p:spPr>
        <p:txBody>
          <a:bodyPr/>
          <a:lstStyle/>
          <a:p>
            <a:r>
              <a:rPr lang="en-US" b="1" dirty="0"/>
              <a:t>Presented by:</a:t>
            </a:r>
            <a:br>
              <a:rPr lang="en-US" dirty="0"/>
            </a:br>
            <a:r>
              <a:rPr lang="en-US" b="1" dirty="0"/>
              <a:t>Swapnil Singh</a:t>
            </a:r>
            <a:endParaRPr lang="en-US" dirty="0"/>
          </a:p>
        </p:txBody>
      </p:sp>
      <p:sp>
        <p:nvSpPr>
          <p:cNvPr id="4" name="Subtitle 2">
            <a:extLst>
              <a:ext uri="{FF2B5EF4-FFF2-40B4-BE49-F238E27FC236}">
                <a16:creationId xmlns:a16="http://schemas.microsoft.com/office/drawing/2014/main" id="{3650F669-EFA7-E745-F170-23F4FECFAF64}"/>
              </a:ext>
            </a:extLst>
          </p:cNvPr>
          <p:cNvSpPr txBox="1">
            <a:spLocks/>
          </p:cNvSpPr>
          <p:nvPr/>
        </p:nvSpPr>
        <p:spPr>
          <a:xfrm>
            <a:off x="2291505" y="3186417"/>
            <a:ext cx="5357600" cy="1160213"/>
          </a:xfrm>
          <a:prstGeom prst="rect">
            <a:avLst/>
          </a:prstGeom>
        </p:spPr>
        <p:txBody>
          <a:bodyPr vert="horz" lIns="91440" tIns="0" rIns="91440" bIns="45720" rtlCol="0" anchor="b">
            <a:normAutofit/>
          </a:bodyPr>
          <a:lstStyle>
            <a:lvl1pPr marL="0" indent="0" algn="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b="0" kern="1200">
                <a:solidFill>
                  <a:schemeClr val="tx1"/>
                </a:solidFill>
                <a:effectLst/>
                <a:latin typeface="+mn-lt"/>
                <a:ea typeface="+mn-ea"/>
                <a:cs typeface="+mn-cs"/>
              </a:defRPr>
            </a:lvl1pPr>
            <a:lvl2pPr marL="4572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a:solidFill>
                  <a:schemeClr val="tx1"/>
                </a:solidFill>
                <a:effectLst/>
                <a:latin typeface="+mn-lt"/>
                <a:ea typeface="+mn-ea"/>
                <a:cs typeface="+mn-cs"/>
              </a:defRPr>
            </a:lvl9pPr>
          </a:lstStyle>
          <a:p>
            <a:pPr algn="ctr"/>
            <a:r>
              <a:rPr lang="en-US" b="1" dirty="0" err="1">
                <a:solidFill>
                  <a:schemeClr val="tx2"/>
                </a:solidFill>
              </a:rPr>
              <a:t>Bluestock</a:t>
            </a:r>
            <a:r>
              <a:rPr lang="en-US" b="1" dirty="0">
                <a:solidFill>
                  <a:schemeClr val="tx2"/>
                </a:solidFill>
              </a:rPr>
              <a:t> Fintech Capstone Project</a:t>
            </a:r>
          </a:p>
        </p:txBody>
      </p:sp>
      <p:pic>
        <p:nvPicPr>
          <p:cNvPr id="6" name="Picture 5">
            <a:extLst>
              <a:ext uri="{FF2B5EF4-FFF2-40B4-BE49-F238E27FC236}">
                <a16:creationId xmlns:a16="http://schemas.microsoft.com/office/drawing/2014/main" id="{8843E18C-3FED-75E8-AF50-9B1EB38CF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052" y="19859"/>
            <a:ext cx="7836506" cy="966216"/>
          </a:xfrm>
          <a:prstGeom prst="rect">
            <a:avLst/>
          </a:prstGeom>
        </p:spPr>
      </p:pic>
    </p:spTree>
    <p:extLst>
      <p:ext uri="{BB962C8B-B14F-4D97-AF65-F5344CB8AC3E}">
        <p14:creationId xmlns:p14="http://schemas.microsoft.com/office/powerpoint/2010/main" val="393475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5F5B3-FD50-45D0-4E8C-C37062920EE0}"/>
              </a:ext>
            </a:extLst>
          </p:cNvPr>
          <p:cNvSpPr>
            <a:spLocks noGrp="1"/>
          </p:cNvSpPr>
          <p:nvPr>
            <p:ph type="title"/>
          </p:nvPr>
        </p:nvSpPr>
        <p:spPr>
          <a:xfrm>
            <a:off x="2356169" y="808056"/>
            <a:ext cx="7958331" cy="1077229"/>
          </a:xfrm>
        </p:spPr>
        <p:txBody>
          <a:bodyPr>
            <a:normAutofit/>
          </a:bodyPr>
          <a:lstStyle/>
          <a:p>
            <a:pPr algn="ctr"/>
            <a:r>
              <a:rPr lang="en-US" sz="4800" b="1" dirty="0">
                <a:solidFill>
                  <a:schemeClr val="tx2"/>
                </a:solidFill>
              </a:rPr>
              <a:t>Project Overview</a:t>
            </a:r>
          </a:p>
        </p:txBody>
      </p:sp>
      <p:sp>
        <p:nvSpPr>
          <p:cNvPr id="3" name="Content Placeholder 2">
            <a:extLst>
              <a:ext uri="{FF2B5EF4-FFF2-40B4-BE49-F238E27FC236}">
                <a16:creationId xmlns:a16="http://schemas.microsoft.com/office/drawing/2014/main" id="{2C537BE9-DD8E-7C9F-DD22-9852CD3D0694}"/>
              </a:ext>
            </a:extLst>
          </p:cNvPr>
          <p:cNvSpPr>
            <a:spLocks noGrp="1"/>
          </p:cNvSpPr>
          <p:nvPr>
            <p:ph idx="1"/>
          </p:nvPr>
        </p:nvSpPr>
        <p:spPr>
          <a:xfrm>
            <a:off x="1048479" y="1963625"/>
            <a:ext cx="4811547" cy="4682981"/>
          </a:xfrm>
        </p:spPr>
        <p:txBody>
          <a:bodyPr>
            <a:normAutofit fontScale="77500" lnSpcReduction="20000"/>
          </a:bodyPr>
          <a:lstStyle/>
          <a:p>
            <a:r>
              <a:rPr lang="en-US" dirty="0"/>
              <a:t>Developed an end-to-end </a:t>
            </a:r>
            <a:r>
              <a:rPr lang="en-US" b="1" dirty="0"/>
              <a:t>Mutual Fund Analytics Dashboard</a:t>
            </a:r>
            <a:r>
              <a:rPr lang="en-US" dirty="0"/>
              <a:t> using </a:t>
            </a:r>
            <a:r>
              <a:rPr lang="en-US" b="1" dirty="0"/>
              <a:t>Python, PostgreSQL, and Power BI</a:t>
            </a:r>
            <a:r>
              <a:rPr lang="en-US" dirty="0"/>
              <a:t>. </a:t>
            </a:r>
          </a:p>
          <a:p>
            <a:r>
              <a:rPr lang="en-US" dirty="0"/>
              <a:t>Cleaned and transformed raw data to generate interactive dashboards and business insights. </a:t>
            </a:r>
          </a:p>
          <a:p>
            <a:r>
              <a:rPr lang="en-US" dirty="0"/>
              <a:t>Analyzed fund performance, investor behavior, and SIP trends. </a:t>
            </a:r>
          </a:p>
          <a:p>
            <a:pPr marL="6160" indent="0">
              <a:buNone/>
            </a:pPr>
            <a:r>
              <a:rPr lang="en-US" b="1" dirty="0"/>
              <a:t>Objectives</a:t>
            </a:r>
            <a:endParaRPr lang="en-US" dirty="0"/>
          </a:p>
          <a:p>
            <a:r>
              <a:rPr lang="en-US" dirty="0"/>
              <a:t>Analyze mutual fund performance. </a:t>
            </a:r>
          </a:p>
          <a:p>
            <a:r>
              <a:rPr lang="en-US" dirty="0"/>
              <a:t>Study investor demographics. </a:t>
            </a:r>
          </a:p>
          <a:p>
            <a:r>
              <a:rPr lang="en-US" dirty="0"/>
              <a:t>Track SIP trends. </a:t>
            </a:r>
          </a:p>
          <a:p>
            <a:r>
              <a:rPr lang="en-US" dirty="0"/>
              <a:t>Build interactive dashboards. </a:t>
            </a:r>
          </a:p>
          <a:p>
            <a:r>
              <a:rPr lang="en-US" dirty="0"/>
              <a:t>Support data-driven decisions.</a:t>
            </a:r>
          </a:p>
        </p:txBody>
      </p:sp>
      <p:sp>
        <p:nvSpPr>
          <p:cNvPr id="4" name="Content Placeholder 2">
            <a:extLst>
              <a:ext uri="{FF2B5EF4-FFF2-40B4-BE49-F238E27FC236}">
                <a16:creationId xmlns:a16="http://schemas.microsoft.com/office/drawing/2014/main" id="{464F2538-C9D4-D764-291C-E3EB763550A4}"/>
              </a:ext>
            </a:extLst>
          </p:cNvPr>
          <p:cNvSpPr txBox="1">
            <a:spLocks/>
          </p:cNvSpPr>
          <p:nvPr/>
        </p:nvSpPr>
        <p:spPr>
          <a:xfrm>
            <a:off x="5860026" y="1963624"/>
            <a:ext cx="4811547" cy="4682982"/>
          </a:xfrm>
          <a:prstGeom prst="rect">
            <a:avLst/>
          </a:prstGeom>
        </p:spPr>
        <p:txBody>
          <a:bodyPr vert="horz" lIns="91440" tIns="45720" rIns="91440" bIns="45720" rtlCol="0" anchor="ctr">
            <a:normAutofit fontScale="55000" lnSpcReduction="20000"/>
          </a:bodyPr>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6160" indent="0">
              <a:buNone/>
            </a:pPr>
            <a:r>
              <a:rPr lang="en-US" dirty="0"/>
              <a:t>Raw Mutual Fund Datasets</a:t>
            </a:r>
          </a:p>
          <a:p>
            <a:pPr marL="6160" indent="0">
              <a:buNone/>
            </a:pPr>
            <a:r>
              <a:rPr lang="en-US" dirty="0"/>
              <a:t>        ↓</a:t>
            </a:r>
          </a:p>
          <a:p>
            <a:pPr marL="6160" indent="0">
              <a:buNone/>
            </a:pPr>
            <a:r>
              <a:rPr lang="en-US" dirty="0"/>
              <a:t>Python (Data Cleaning)</a:t>
            </a:r>
          </a:p>
          <a:p>
            <a:pPr marL="6160" indent="0">
              <a:buNone/>
            </a:pPr>
            <a:r>
              <a:rPr lang="en-US" dirty="0"/>
              <a:t>        ↓</a:t>
            </a:r>
          </a:p>
          <a:p>
            <a:pPr marL="6160" indent="0">
              <a:buNone/>
            </a:pPr>
            <a:r>
              <a:rPr lang="en-US" dirty="0"/>
              <a:t>PostgreSQL (Database)</a:t>
            </a:r>
          </a:p>
          <a:p>
            <a:pPr marL="6160" indent="0">
              <a:buNone/>
            </a:pPr>
            <a:r>
              <a:rPr lang="en-US" dirty="0"/>
              <a:t>        ↓</a:t>
            </a:r>
          </a:p>
          <a:p>
            <a:pPr marL="6160" indent="0">
              <a:buNone/>
            </a:pPr>
            <a:r>
              <a:rPr lang="en-US" dirty="0"/>
              <a:t>Power BI (Power Query)</a:t>
            </a:r>
          </a:p>
          <a:p>
            <a:pPr marL="6160" indent="0">
              <a:buNone/>
            </a:pPr>
            <a:r>
              <a:rPr lang="en-US" dirty="0"/>
              <a:t>        ↓</a:t>
            </a:r>
          </a:p>
          <a:p>
            <a:pPr marL="6160" indent="0">
              <a:buNone/>
            </a:pPr>
            <a:r>
              <a:rPr lang="en-US" dirty="0"/>
              <a:t>Data Modeling</a:t>
            </a:r>
          </a:p>
          <a:p>
            <a:pPr marL="6160" indent="0">
              <a:buNone/>
            </a:pPr>
            <a:r>
              <a:rPr lang="en-US" dirty="0"/>
              <a:t>        ↓</a:t>
            </a:r>
          </a:p>
          <a:p>
            <a:pPr marL="6160" indent="0">
              <a:buNone/>
            </a:pPr>
            <a:r>
              <a:rPr lang="en-US" dirty="0"/>
              <a:t>DAX Measures</a:t>
            </a:r>
          </a:p>
          <a:p>
            <a:pPr marL="6160" indent="0">
              <a:buNone/>
            </a:pPr>
            <a:r>
              <a:rPr lang="en-US" dirty="0"/>
              <a:t>        ↓</a:t>
            </a:r>
          </a:p>
          <a:p>
            <a:pPr marL="6160" indent="0">
              <a:buNone/>
            </a:pPr>
            <a:r>
              <a:rPr lang="en-US" dirty="0"/>
              <a:t>Interactive Dashboards</a:t>
            </a:r>
          </a:p>
          <a:p>
            <a:pPr marL="6160" indent="0">
              <a:buNone/>
            </a:pPr>
            <a:r>
              <a:rPr lang="en-US" dirty="0"/>
              <a:t>        ↓</a:t>
            </a:r>
          </a:p>
          <a:p>
            <a:pPr marL="6160" indent="0">
              <a:buNone/>
            </a:pPr>
            <a:r>
              <a:rPr lang="en-US" dirty="0"/>
              <a:t>Business Insights.</a:t>
            </a:r>
          </a:p>
        </p:txBody>
      </p:sp>
      <p:pic>
        <p:nvPicPr>
          <p:cNvPr id="6" name="Picture 5">
            <a:extLst>
              <a:ext uri="{FF2B5EF4-FFF2-40B4-BE49-F238E27FC236}">
                <a16:creationId xmlns:a16="http://schemas.microsoft.com/office/drawing/2014/main" id="{681CA111-1B70-A4A8-5093-1414B0775787}"/>
              </a:ext>
            </a:extLst>
          </p:cNvPr>
          <p:cNvPicPr>
            <a:picLocks noChangeAspect="1"/>
          </p:cNvPicPr>
          <p:nvPr/>
        </p:nvPicPr>
        <p:blipFill>
          <a:blip r:embed="rId2"/>
          <a:stretch>
            <a:fillRect/>
          </a:stretch>
        </p:blipFill>
        <p:spPr>
          <a:xfrm>
            <a:off x="7867606" y="2054943"/>
            <a:ext cx="3275915" cy="2369573"/>
          </a:xfrm>
          <a:prstGeom prst="rect">
            <a:avLst/>
          </a:prstGeom>
        </p:spPr>
      </p:pic>
    </p:spTree>
    <p:extLst>
      <p:ext uri="{BB962C8B-B14F-4D97-AF65-F5344CB8AC3E}">
        <p14:creationId xmlns:p14="http://schemas.microsoft.com/office/powerpoint/2010/main" val="369919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AFAD-E763-1714-414D-717D356F13AB}"/>
              </a:ext>
            </a:extLst>
          </p:cNvPr>
          <p:cNvSpPr>
            <a:spLocks noGrp="1"/>
          </p:cNvSpPr>
          <p:nvPr>
            <p:ph type="title"/>
          </p:nvPr>
        </p:nvSpPr>
        <p:spPr>
          <a:xfrm>
            <a:off x="2356170" y="808056"/>
            <a:ext cx="7958331" cy="1077229"/>
          </a:xfrm>
        </p:spPr>
        <p:txBody>
          <a:bodyPr>
            <a:normAutofit/>
          </a:bodyPr>
          <a:lstStyle/>
          <a:p>
            <a:pPr algn="ctr"/>
            <a:r>
              <a:rPr lang="en-US" sz="4000" b="1" dirty="0">
                <a:solidFill>
                  <a:schemeClr val="tx2"/>
                </a:solidFill>
              </a:rPr>
              <a:t>Technology Stack</a:t>
            </a:r>
            <a:r>
              <a:rPr lang="en-US" sz="2200" b="1" dirty="0">
                <a:solidFill>
                  <a:schemeClr val="tx2"/>
                </a:solidFill>
              </a:rPr>
              <a:t> </a:t>
            </a:r>
            <a:br>
              <a:rPr lang="en-US" sz="2200" b="1" dirty="0">
                <a:solidFill>
                  <a:schemeClr val="tx2"/>
                </a:solidFill>
              </a:rPr>
            </a:br>
            <a:r>
              <a:rPr lang="en-US" sz="2200" dirty="0">
                <a:solidFill>
                  <a:schemeClr val="accent6"/>
                </a:solidFill>
              </a:rPr>
              <a:t>Python PostgreSQL Power BI Excel</a:t>
            </a:r>
            <a:endParaRPr lang="en-US" sz="2200" b="1" dirty="0">
              <a:solidFill>
                <a:schemeClr val="accent6"/>
              </a:solidFill>
            </a:endParaRPr>
          </a:p>
        </p:txBody>
      </p:sp>
      <p:graphicFrame>
        <p:nvGraphicFramePr>
          <p:cNvPr id="4" name="Content Placeholder 3">
            <a:extLst>
              <a:ext uri="{FF2B5EF4-FFF2-40B4-BE49-F238E27FC236}">
                <a16:creationId xmlns:a16="http://schemas.microsoft.com/office/drawing/2014/main" id="{176C6D8C-C7C1-2062-855E-AFE095E273DA}"/>
              </a:ext>
            </a:extLst>
          </p:cNvPr>
          <p:cNvGraphicFramePr>
            <a:graphicFrameLocks noGrp="1"/>
          </p:cNvGraphicFramePr>
          <p:nvPr>
            <p:ph idx="1"/>
            <p:extLst>
              <p:ext uri="{D42A27DB-BD31-4B8C-83A1-F6EECF244321}">
                <p14:modId xmlns:p14="http://schemas.microsoft.com/office/powerpoint/2010/main" val="2356516495"/>
              </p:ext>
            </p:extLst>
          </p:nvPr>
        </p:nvGraphicFramePr>
        <p:xfrm>
          <a:off x="2381074" y="1904829"/>
          <a:ext cx="7745764" cy="4292944"/>
        </p:xfrm>
        <a:graphic>
          <a:graphicData uri="http://schemas.openxmlformats.org/drawingml/2006/table">
            <a:tbl>
              <a:tblPr/>
              <a:tblGrid>
                <a:gridCol w="3872882">
                  <a:extLst>
                    <a:ext uri="{9D8B030D-6E8A-4147-A177-3AD203B41FA5}">
                      <a16:colId xmlns:a16="http://schemas.microsoft.com/office/drawing/2014/main" val="266755682"/>
                    </a:ext>
                  </a:extLst>
                </a:gridCol>
                <a:gridCol w="3872882">
                  <a:extLst>
                    <a:ext uri="{9D8B030D-6E8A-4147-A177-3AD203B41FA5}">
                      <a16:colId xmlns:a16="http://schemas.microsoft.com/office/drawing/2014/main" val="1739272669"/>
                    </a:ext>
                  </a:extLst>
                </a:gridCol>
              </a:tblGrid>
              <a:tr h="363393">
                <a:tc>
                  <a:txBody>
                    <a:bodyPr/>
                    <a:lstStyle/>
                    <a:p>
                      <a:pPr>
                        <a:buNone/>
                      </a:pPr>
                      <a:r>
                        <a:rPr lang="en-US" sz="1800"/>
                        <a:t>Technology</a:t>
                      </a:r>
                    </a:p>
                  </a:txBody>
                  <a:tcPr marL="90848" marR="90848" marT="45424" marB="45424" anchor="ctr">
                    <a:lnL>
                      <a:noFill/>
                    </a:lnL>
                    <a:lnR>
                      <a:noFill/>
                    </a:lnR>
                    <a:lnT>
                      <a:noFill/>
                    </a:lnT>
                    <a:lnB>
                      <a:noFill/>
                    </a:lnB>
                    <a:noFill/>
                  </a:tcPr>
                </a:tc>
                <a:tc>
                  <a:txBody>
                    <a:bodyPr/>
                    <a:lstStyle/>
                    <a:p>
                      <a:pPr>
                        <a:buNone/>
                      </a:pPr>
                      <a:r>
                        <a:rPr lang="en-US" sz="1800"/>
                        <a:t>Purpose</a:t>
                      </a:r>
                    </a:p>
                  </a:txBody>
                  <a:tcPr marL="90848" marR="90848" marT="45424" marB="45424" anchor="ctr">
                    <a:lnL>
                      <a:noFill/>
                    </a:lnL>
                    <a:lnR>
                      <a:noFill/>
                    </a:lnR>
                    <a:lnT>
                      <a:noFill/>
                    </a:lnT>
                    <a:lnB>
                      <a:noFill/>
                    </a:lnB>
                    <a:noFill/>
                  </a:tcPr>
                </a:tc>
                <a:extLst>
                  <a:ext uri="{0D108BD9-81ED-4DB2-BD59-A6C34878D82A}">
                    <a16:rowId xmlns:a16="http://schemas.microsoft.com/office/drawing/2014/main" val="546556970"/>
                  </a:ext>
                </a:extLst>
              </a:tr>
              <a:tr h="363393">
                <a:tc>
                  <a:txBody>
                    <a:bodyPr/>
                    <a:lstStyle/>
                    <a:p>
                      <a:pPr>
                        <a:buNone/>
                      </a:pPr>
                      <a:r>
                        <a:rPr lang="en-US" sz="1800" b="1" dirty="0"/>
                        <a:t>    Python (</a:t>
                      </a:r>
                      <a:r>
                        <a:rPr lang="en-US" sz="1800" b="1" dirty="0" err="1"/>
                        <a:t>Jupyter</a:t>
                      </a:r>
                      <a:r>
                        <a:rPr lang="en-US" sz="1800" b="1" dirty="0"/>
                        <a:t> Notebook)</a:t>
                      </a:r>
                      <a:endParaRPr lang="en-US" sz="1800" dirty="0"/>
                    </a:p>
                  </a:txBody>
                  <a:tcPr marL="90848" marR="90848" marT="45424" marB="45424" anchor="ctr">
                    <a:lnL>
                      <a:noFill/>
                    </a:lnL>
                    <a:lnR>
                      <a:noFill/>
                    </a:lnR>
                    <a:lnT>
                      <a:noFill/>
                    </a:lnT>
                    <a:lnB>
                      <a:noFill/>
                    </a:lnB>
                    <a:noFill/>
                  </a:tcPr>
                </a:tc>
                <a:tc>
                  <a:txBody>
                    <a:bodyPr/>
                    <a:lstStyle/>
                    <a:p>
                      <a:pPr>
                        <a:buNone/>
                      </a:pPr>
                      <a:r>
                        <a:rPr lang="en-US" sz="1800"/>
                        <a:t>Data cleaning and preprocessing</a:t>
                      </a:r>
                    </a:p>
                  </a:txBody>
                  <a:tcPr marL="90848" marR="90848" marT="45424" marB="45424" anchor="ctr">
                    <a:lnL>
                      <a:noFill/>
                    </a:lnL>
                    <a:lnR>
                      <a:noFill/>
                    </a:lnR>
                    <a:lnT>
                      <a:noFill/>
                    </a:lnT>
                    <a:lnB>
                      <a:noFill/>
                    </a:lnB>
                    <a:noFill/>
                  </a:tcPr>
                </a:tc>
                <a:extLst>
                  <a:ext uri="{0D108BD9-81ED-4DB2-BD59-A6C34878D82A}">
                    <a16:rowId xmlns:a16="http://schemas.microsoft.com/office/drawing/2014/main" val="3312709879"/>
                  </a:ext>
                </a:extLst>
              </a:tr>
              <a:tr h="635938">
                <a:tc>
                  <a:txBody>
                    <a:bodyPr/>
                    <a:lstStyle/>
                    <a:p>
                      <a:pPr>
                        <a:buNone/>
                      </a:pPr>
                      <a:r>
                        <a:rPr lang="en-US" sz="1800" dirty="0"/>
                        <a:t>    </a:t>
                      </a:r>
                      <a:r>
                        <a:rPr lang="en-US" sz="1800" b="1" dirty="0"/>
                        <a:t>Pandas &amp; NumPy</a:t>
                      </a:r>
                      <a:endParaRPr lang="en-US" sz="1800" dirty="0"/>
                    </a:p>
                  </a:txBody>
                  <a:tcPr marL="90848" marR="90848" marT="45424" marB="45424" anchor="ctr">
                    <a:lnL>
                      <a:noFill/>
                    </a:lnL>
                    <a:lnR>
                      <a:noFill/>
                    </a:lnR>
                    <a:lnT>
                      <a:noFill/>
                    </a:lnT>
                    <a:lnB>
                      <a:noFill/>
                    </a:lnB>
                    <a:noFill/>
                  </a:tcPr>
                </a:tc>
                <a:tc>
                  <a:txBody>
                    <a:bodyPr/>
                    <a:lstStyle/>
                    <a:p>
                      <a:pPr>
                        <a:buNone/>
                      </a:pPr>
                      <a:r>
                        <a:rPr lang="en-US" sz="1800"/>
                        <a:t>Data manipulation and numerical analysis</a:t>
                      </a:r>
                    </a:p>
                  </a:txBody>
                  <a:tcPr marL="90848" marR="90848" marT="45424" marB="45424" anchor="ctr">
                    <a:lnL>
                      <a:noFill/>
                    </a:lnL>
                    <a:lnR>
                      <a:noFill/>
                    </a:lnR>
                    <a:lnT>
                      <a:noFill/>
                    </a:lnT>
                    <a:lnB>
                      <a:noFill/>
                    </a:lnB>
                    <a:noFill/>
                  </a:tcPr>
                </a:tc>
                <a:extLst>
                  <a:ext uri="{0D108BD9-81ED-4DB2-BD59-A6C34878D82A}">
                    <a16:rowId xmlns:a16="http://schemas.microsoft.com/office/drawing/2014/main" val="1321783828"/>
                  </a:ext>
                </a:extLst>
              </a:tr>
              <a:tr h="635938">
                <a:tc>
                  <a:txBody>
                    <a:bodyPr/>
                    <a:lstStyle/>
                    <a:p>
                      <a:pPr>
                        <a:buNone/>
                      </a:pPr>
                      <a:r>
                        <a:rPr lang="en-US" sz="1800" dirty="0"/>
                        <a:t>    </a:t>
                      </a:r>
                      <a:r>
                        <a:rPr lang="en-US" sz="1800" b="1" dirty="0"/>
                        <a:t>PostgreSQL</a:t>
                      </a:r>
                      <a:endParaRPr lang="en-US" sz="1800" dirty="0"/>
                    </a:p>
                  </a:txBody>
                  <a:tcPr marL="90848" marR="90848" marT="45424" marB="45424" anchor="ctr">
                    <a:lnL>
                      <a:noFill/>
                    </a:lnL>
                    <a:lnR>
                      <a:noFill/>
                    </a:lnR>
                    <a:lnT>
                      <a:noFill/>
                    </a:lnT>
                    <a:lnB>
                      <a:noFill/>
                    </a:lnB>
                    <a:noFill/>
                  </a:tcPr>
                </a:tc>
                <a:tc>
                  <a:txBody>
                    <a:bodyPr/>
                    <a:lstStyle/>
                    <a:p>
                      <a:pPr>
                        <a:buNone/>
                      </a:pPr>
                      <a:r>
                        <a:rPr lang="en-US" sz="1800"/>
                        <a:t>Database management and data storage</a:t>
                      </a:r>
                    </a:p>
                  </a:txBody>
                  <a:tcPr marL="90848" marR="90848" marT="45424" marB="45424" anchor="ctr">
                    <a:lnL>
                      <a:noFill/>
                    </a:lnL>
                    <a:lnR>
                      <a:noFill/>
                    </a:lnR>
                    <a:lnT>
                      <a:noFill/>
                    </a:lnT>
                    <a:lnB>
                      <a:noFill/>
                    </a:lnB>
                    <a:noFill/>
                  </a:tcPr>
                </a:tc>
                <a:extLst>
                  <a:ext uri="{0D108BD9-81ED-4DB2-BD59-A6C34878D82A}">
                    <a16:rowId xmlns:a16="http://schemas.microsoft.com/office/drawing/2014/main" val="2398514960"/>
                  </a:ext>
                </a:extLst>
              </a:tr>
              <a:tr h="363393">
                <a:tc>
                  <a:txBody>
                    <a:bodyPr/>
                    <a:lstStyle/>
                    <a:p>
                      <a:pPr>
                        <a:buNone/>
                      </a:pPr>
                      <a:r>
                        <a:rPr lang="en-US" sz="1800" dirty="0"/>
                        <a:t>    </a:t>
                      </a:r>
                      <a:r>
                        <a:rPr lang="en-US" sz="1800" b="1" dirty="0"/>
                        <a:t>Power Query</a:t>
                      </a:r>
                      <a:endParaRPr lang="en-US" sz="1800" dirty="0"/>
                    </a:p>
                  </a:txBody>
                  <a:tcPr marL="90848" marR="90848" marT="45424" marB="45424" anchor="ctr">
                    <a:lnL>
                      <a:noFill/>
                    </a:lnL>
                    <a:lnR>
                      <a:noFill/>
                    </a:lnR>
                    <a:lnT>
                      <a:noFill/>
                    </a:lnT>
                    <a:lnB>
                      <a:noFill/>
                    </a:lnB>
                    <a:noFill/>
                  </a:tcPr>
                </a:tc>
                <a:tc>
                  <a:txBody>
                    <a:bodyPr/>
                    <a:lstStyle/>
                    <a:p>
                      <a:pPr>
                        <a:buNone/>
                      </a:pPr>
                      <a:r>
                        <a:rPr lang="en-US" sz="1800"/>
                        <a:t>Data transformation (ETL)</a:t>
                      </a:r>
                    </a:p>
                  </a:txBody>
                  <a:tcPr marL="90848" marR="90848" marT="45424" marB="45424" anchor="ctr">
                    <a:lnL>
                      <a:noFill/>
                    </a:lnL>
                    <a:lnR>
                      <a:noFill/>
                    </a:lnR>
                    <a:lnT>
                      <a:noFill/>
                    </a:lnT>
                    <a:lnB>
                      <a:noFill/>
                    </a:lnB>
                    <a:noFill/>
                  </a:tcPr>
                </a:tc>
                <a:extLst>
                  <a:ext uri="{0D108BD9-81ED-4DB2-BD59-A6C34878D82A}">
                    <a16:rowId xmlns:a16="http://schemas.microsoft.com/office/drawing/2014/main" val="1227357981"/>
                  </a:ext>
                </a:extLst>
              </a:tr>
              <a:tr h="635938">
                <a:tc>
                  <a:txBody>
                    <a:bodyPr/>
                    <a:lstStyle/>
                    <a:p>
                      <a:pPr>
                        <a:buNone/>
                      </a:pPr>
                      <a:r>
                        <a:rPr lang="en-US" sz="1800" dirty="0"/>
                        <a:t>    </a:t>
                      </a:r>
                      <a:r>
                        <a:rPr lang="en-US" sz="1800" b="1" dirty="0"/>
                        <a:t>Power BI</a:t>
                      </a:r>
                      <a:endParaRPr lang="en-US" sz="1800" dirty="0"/>
                    </a:p>
                  </a:txBody>
                  <a:tcPr marL="90848" marR="90848" marT="45424" marB="45424" anchor="ctr">
                    <a:lnL>
                      <a:noFill/>
                    </a:lnL>
                    <a:lnR>
                      <a:noFill/>
                    </a:lnR>
                    <a:lnT>
                      <a:noFill/>
                    </a:lnT>
                    <a:lnB>
                      <a:noFill/>
                    </a:lnB>
                    <a:noFill/>
                  </a:tcPr>
                </a:tc>
                <a:tc>
                  <a:txBody>
                    <a:bodyPr/>
                    <a:lstStyle/>
                    <a:p>
                      <a:pPr>
                        <a:buNone/>
                      </a:pPr>
                      <a:r>
                        <a:rPr lang="en-US" sz="1800"/>
                        <a:t>Dashboard development and visualization</a:t>
                      </a:r>
                    </a:p>
                  </a:txBody>
                  <a:tcPr marL="90848" marR="90848" marT="45424" marB="45424" anchor="ctr">
                    <a:lnL>
                      <a:noFill/>
                    </a:lnL>
                    <a:lnR>
                      <a:noFill/>
                    </a:lnR>
                    <a:lnT>
                      <a:noFill/>
                    </a:lnT>
                    <a:lnB>
                      <a:noFill/>
                    </a:lnB>
                    <a:noFill/>
                  </a:tcPr>
                </a:tc>
                <a:extLst>
                  <a:ext uri="{0D108BD9-81ED-4DB2-BD59-A6C34878D82A}">
                    <a16:rowId xmlns:a16="http://schemas.microsoft.com/office/drawing/2014/main" val="1288465829"/>
                  </a:ext>
                </a:extLst>
              </a:tr>
              <a:tr h="635938">
                <a:tc>
                  <a:txBody>
                    <a:bodyPr/>
                    <a:lstStyle/>
                    <a:p>
                      <a:pPr>
                        <a:buNone/>
                      </a:pPr>
                      <a:r>
                        <a:rPr lang="en-US" sz="1800" b="1" dirty="0"/>
                        <a:t>     DAX   </a:t>
                      </a:r>
                      <a:endParaRPr lang="en-US" sz="1800" dirty="0"/>
                    </a:p>
                  </a:txBody>
                  <a:tcPr marL="90848" marR="90848" marT="45424" marB="45424" anchor="ctr">
                    <a:lnL>
                      <a:noFill/>
                    </a:lnL>
                    <a:lnR>
                      <a:noFill/>
                    </a:lnR>
                    <a:lnT>
                      <a:noFill/>
                    </a:lnT>
                    <a:lnB>
                      <a:noFill/>
                    </a:lnB>
                    <a:noFill/>
                  </a:tcPr>
                </a:tc>
                <a:tc>
                  <a:txBody>
                    <a:bodyPr/>
                    <a:lstStyle/>
                    <a:p>
                      <a:pPr>
                        <a:buNone/>
                      </a:pPr>
                      <a:r>
                        <a:rPr lang="en-US" sz="1800"/>
                        <a:t>KPIs, calculated measures, and dynamic analysis</a:t>
                      </a:r>
                    </a:p>
                  </a:txBody>
                  <a:tcPr marL="90848" marR="90848" marT="45424" marB="45424" anchor="ctr">
                    <a:lnL>
                      <a:noFill/>
                    </a:lnL>
                    <a:lnR>
                      <a:noFill/>
                    </a:lnR>
                    <a:lnT>
                      <a:noFill/>
                    </a:lnT>
                    <a:lnB>
                      <a:noFill/>
                    </a:lnB>
                    <a:noFill/>
                  </a:tcPr>
                </a:tc>
                <a:extLst>
                  <a:ext uri="{0D108BD9-81ED-4DB2-BD59-A6C34878D82A}">
                    <a16:rowId xmlns:a16="http://schemas.microsoft.com/office/drawing/2014/main" val="1513686608"/>
                  </a:ext>
                </a:extLst>
              </a:tr>
              <a:tr h="363393">
                <a:tc>
                  <a:txBody>
                    <a:bodyPr/>
                    <a:lstStyle/>
                    <a:p>
                      <a:pPr>
                        <a:buNone/>
                      </a:pPr>
                      <a:r>
                        <a:rPr lang="en-US" sz="1800" dirty="0"/>
                        <a:t>     </a:t>
                      </a:r>
                      <a:r>
                        <a:rPr lang="en-US" sz="1800" b="1" dirty="0"/>
                        <a:t>Microsoft Excel</a:t>
                      </a:r>
                      <a:endParaRPr lang="en-US" sz="1800" dirty="0"/>
                    </a:p>
                  </a:txBody>
                  <a:tcPr marL="90848" marR="90848" marT="45424" marB="45424" anchor="ctr">
                    <a:lnL>
                      <a:noFill/>
                    </a:lnL>
                    <a:lnR>
                      <a:noFill/>
                    </a:lnR>
                    <a:lnT>
                      <a:noFill/>
                    </a:lnT>
                    <a:lnB>
                      <a:noFill/>
                    </a:lnB>
                    <a:noFill/>
                  </a:tcPr>
                </a:tc>
                <a:tc>
                  <a:txBody>
                    <a:bodyPr/>
                    <a:lstStyle/>
                    <a:p>
                      <a:pPr>
                        <a:buNone/>
                      </a:pPr>
                      <a:r>
                        <a:rPr lang="en-US" sz="1800" dirty="0"/>
                        <a:t>Initial data exploration and validation</a:t>
                      </a:r>
                    </a:p>
                  </a:txBody>
                  <a:tcPr marL="90848" marR="90848" marT="45424" marB="45424" anchor="ctr">
                    <a:lnL>
                      <a:noFill/>
                    </a:lnL>
                    <a:lnR>
                      <a:noFill/>
                    </a:lnR>
                    <a:lnT>
                      <a:noFill/>
                    </a:lnT>
                    <a:lnB>
                      <a:noFill/>
                    </a:lnB>
                    <a:noFill/>
                  </a:tcPr>
                </a:tc>
                <a:extLst>
                  <a:ext uri="{0D108BD9-81ED-4DB2-BD59-A6C34878D82A}">
                    <a16:rowId xmlns:a16="http://schemas.microsoft.com/office/drawing/2014/main" val="839860548"/>
                  </a:ext>
                </a:extLst>
              </a:tr>
            </a:tbl>
          </a:graphicData>
        </a:graphic>
      </p:graphicFrame>
      <p:pic>
        <p:nvPicPr>
          <p:cNvPr id="5" name="Picture 4" descr="HD Python Logo Symbol Transparent PNG — Free | CityPNG">
            <a:extLst>
              <a:ext uri="{FF2B5EF4-FFF2-40B4-BE49-F238E27FC236}">
                <a16:creationId xmlns:a16="http://schemas.microsoft.com/office/drawing/2014/main" id="{33BE7961-DA10-FB79-76A9-52A70F6741BD}"/>
              </a:ext>
            </a:extLst>
          </p:cNvPr>
          <p:cNvPicPr>
            <a:picLocks noChangeAspect="1"/>
          </p:cNvPicPr>
          <p:nvPr/>
        </p:nvPicPr>
        <p:blipFill>
          <a:blip r:embed="rId2"/>
          <a:stretch>
            <a:fillRect/>
          </a:stretch>
        </p:blipFill>
        <p:spPr>
          <a:xfrm>
            <a:off x="2381074" y="2332890"/>
            <a:ext cx="259585" cy="259585"/>
          </a:xfrm>
          <a:prstGeom prst="rect">
            <a:avLst/>
          </a:prstGeom>
        </p:spPr>
      </p:pic>
      <p:pic>
        <p:nvPicPr>
          <p:cNvPr id="6" name="Picture 5" descr="Numpy color icon in PNG, SVG">
            <a:extLst>
              <a:ext uri="{FF2B5EF4-FFF2-40B4-BE49-F238E27FC236}">
                <a16:creationId xmlns:a16="http://schemas.microsoft.com/office/drawing/2014/main" id="{912383AD-B2C3-66E7-24CB-CC79503E94F4}"/>
              </a:ext>
            </a:extLst>
          </p:cNvPr>
          <p:cNvPicPr>
            <a:picLocks noChangeAspect="1"/>
          </p:cNvPicPr>
          <p:nvPr/>
        </p:nvPicPr>
        <p:blipFill>
          <a:blip r:embed="rId3"/>
          <a:stretch>
            <a:fillRect/>
          </a:stretch>
        </p:blipFill>
        <p:spPr>
          <a:xfrm>
            <a:off x="2381073" y="2900515"/>
            <a:ext cx="259585" cy="259585"/>
          </a:xfrm>
          <a:prstGeom prst="rect">
            <a:avLst/>
          </a:prstGeom>
        </p:spPr>
      </p:pic>
      <p:pic>
        <p:nvPicPr>
          <p:cNvPr id="7" name="Picture 6" descr="PostgreSQL Database Logo, database symbol transparent background PNG  clipart | HiClipart">
            <a:extLst>
              <a:ext uri="{FF2B5EF4-FFF2-40B4-BE49-F238E27FC236}">
                <a16:creationId xmlns:a16="http://schemas.microsoft.com/office/drawing/2014/main" id="{49D4D327-5BE1-F4A6-078D-4344D30AB154}"/>
              </a:ext>
            </a:extLst>
          </p:cNvPr>
          <p:cNvPicPr>
            <a:picLocks noChangeAspect="1"/>
          </p:cNvPicPr>
          <p:nvPr/>
        </p:nvPicPr>
        <p:blipFill>
          <a:blip r:embed="rId4"/>
          <a:stretch>
            <a:fillRect/>
          </a:stretch>
        </p:blipFill>
        <p:spPr>
          <a:xfrm>
            <a:off x="2381073" y="3468141"/>
            <a:ext cx="259585" cy="260054"/>
          </a:xfrm>
          <a:prstGeom prst="rect">
            <a:avLst/>
          </a:prstGeom>
        </p:spPr>
      </p:pic>
      <p:pic>
        <p:nvPicPr>
          <p:cNvPr id="8" name="Picture 7" descr="Microsoft Power BI Logo and symbol, meaning, history, PNG, brand">
            <a:extLst>
              <a:ext uri="{FF2B5EF4-FFF2-40B4-BE49-F238E27FC236}">
                <a16:creationId xmlns:a16="http://schemas.microsoft.com/office/drawing/2014/main" id="{6B22889E-B87B-679F-FA3D-B7B1BA94113B}"/>
              </a:ext>
            </a:extLst>
          </p:cNvPr>
          <p:cNvPicPr>
            <a:picLocks noChangeAspect="1"/>
          </p:cNvPicPr>
          <p:nvPr/>
        </p:nvPicPr>
        <p:blipFill>
          <a:blip r:embed="rId5"/>
          <a:stretch>
            <a:fillRect/>
          </a:stretch>
        </p:blipFill>
        <p:spPr>
          <a:xfrm>
            <a:off x="2381073" y="4030889"/>
            <a:ext cx="301650" cy="234637"/>
          </a:xfrm>
          <a:prstGeom prst="rect">
            <a:avLst/>
          </a:prstGeom>
        </p:spPr>
      </p:pic>
      <p:pic>
        <p:nvPicPr>
          <p:cNvPr id="9" name="Picture 8" descr="Microsoft Power BI Logo and symbol, meaning, history, PNG, brand">
            <a:extLst>
              <a:ext uri="{FF2B5EF4-FFF2-40B4-BE49-F238E27FC236}">
                <a16:creationId xmlns:a16="http://schemas.microsoft.com/office/drawing/2014/main" id="{F06589A1-06E1-01AF-CD22-693FA2809FCA}"/>
              </a:ext>
            </a:extLst>
          </p:cNvPr>
          <p:cNvPicPr>
            <a:picLocks noChangeAspect="1"/>
          </p:cNvPicPr>
          <p:nvPr/>
        </p:nvPicPr>
        <p:blipFill>
          <a:blip r:embed="rId6"/>
          <a:stretch>
            <a:fillRect/>
          </a:stretch>
        </p:blipFill>
        <p:spPr>
          <a:xfrm>
            <a:off x="2350054" y="4481195"/>
            <a:ext cx="363688" cy="234637"/>
          </a:xfrm>
          <a:prstGeom prst="rect">
            <a:avLst/>
          </a:prstGeom>
        </p:spPr>
      </p:pic>
      <p:pic>
        <p:nvPicPr>
          <p:cNvPr id="10" name="Picture 9" descr="Microsoft Power BI DAX Course from Scratch">
            <a:extLst>
              <a:ext uri="{FF2B5EF4-FFF2-40B4-BE49-F238E27FC236}">
                <a16:creationId xmlns:a16="http://schemas.microsoft.com/office/drawing/2014/main" id="{1C344057-11B5-E840-4263-7D14F0EA6EE0}"/>
              </a:ext>
            </a:extLst>
          </p:cNvPr>
          <p:cNvPicPr>
            <a:picLocks noChangeAspect="1"/>
          </p:cNvPicPr>
          <p:nvPr/>
        </p:nvPicPr>
        <p:blipFill>
          <a:blip r:embed="rId7"/>
          <a:stretch>
            <a:fillRect/>
          </a:stretch>
        </p:blipFill>
        <p:spPr>
          <a:xfrm>
            <a:off x="2469435" y="5166609"/>
            <a:ext cx="176836" cy="167379"/>
          </a:xfrm>
          <a:prstGeom prst="rect">
            <a:avLst/>
          </a:prstGeom>
        </p:spPr>
      </p:pic>
      <p:pic>
        <p:nvPicPr>
          <p:cNvPr id="11" name="Picture 10" descr="HD Microsoft Excel Logo Transparent PNG — Free | CityPNG">
            <a:extLst>
              <a:ext uri="{FF2B5EF4-FFF2-40B4-BE49-F238E27FC236}">
                <a16:creationId xmlns:a16="http://schemas.microsoft.com/office/drawing/2014/main" id="{F0272207-C95E-0A39-ADF2-009AEC7949DF}"/>
              </a:ext>
            </a:extLst>
          </p:cNvPr>
          <p:cNvPicPr>
            <a:picLocks noChangeAspect="1"/>
          </p:cNvPicPr>
          <p:nvPr/>
        </p:nvPicPr>
        <p:blipFill>
          <a:blip r:embed="rId8"/>
          <a:stretch>
            <a:fillRect/>
          </a:stretch>
        </p:blipFill>
        <p:spPr>
          <a:xfrm>
            <a:off x="2469435" y="5724462"/>
            <a:ext cx="259585" cy="259585"/>
          </a:xfrm>
          <a:prstGeom prst="rect">
            <a:avLst/>
          </a:prstGeom>
        </p:spPr>
      </p:pic>
    </p:spTree>
    <p:extLst>
      <p:ext uri="{BB962C8B-B14F-4D97-AF65-F5344CB8AC3E}">
        <p14:creationId xmlns:p14="http://schemas.microsoft.com/office/powerpoint/2010/main" val="39806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594EB-F812-ADD3-3317-3B3138A8513E}"/>
              </a:ext>
            </a:extLst>
          </p:cNvPr>
          <p:cNvSpPr>
            <a:spLocks noGrp="1"/>
          </p:cNvSpPr>
          <p:nvPr>
            <p:ph type="title"/>
          </p:nvPr>
        </p:nvSpPr>
        <p:spPr>
          <a:xfrm>
            <a:off x="2264320" y="650740"/>
            <a:ext cx="7958331" cy="648611"/>
          </a:xfrm>
        </p:spPr>
        <p:txBody>
          <a:bodyPr>
            <a:normAutofit/>
          </a:bodyPr>
          <a:lstStyle/>
          <a:p>
            <a:pPr algn="ctr"/>
            <a:r>
              <a:rPr lang="en-US" sz="4000" b="1" dirty="0">
                <a:solidFill>
                  <a:schemeClr val="tx2"/>
                </a:solidFill>
              </a:rPr>
              <a:t>Problem Statement &amp; Solution</a:t>
            </a:r>
          </a:p>
        </p:txBody>
      </p:sp>
      <p:sp>
        <p:nvSpPr>
          <p:cNvPr id="3" name="Content Placeholder 2">
            <a:extLst>
              <a:ext uri="{FF2B5EF4-FFF2-40B4-BE49-F238E27FC236}">
                <a16:creationId xmlns:a16="http://schemas.microsoft.com/office/drawing/2014/main" id="{A44A6806-5B26-C496-328A-E17367B6070E}"/>
              </a:ext>
            </a:extLst>
          </p:cNvPr>
          <p:cNvSpPr>
            <a:spLocks noGrp="1"/>
          </p:cNvSpPr>
          <p:nvPr>
            <p:ph idx="1"/>
          </p:nvPr>
        </p:nvSpPr>
        <p:spPr>
          <a:xfrm>
            <a:off x="1092283" y="1299350"/>
            <a:ext cx="4856233" cy="4019901"/>
          </a:xfrm>
        </p:spPr>
        <p:txBody>
          <a:bodyPr>
            <a:normAutofit fontScale="47500" lnSpcReduction="20000"/>
          </a:bodyPr>
          <a:lstStyle/>
          <a:p>
            <a:pPr marL="6160" indent="0">
              <a:buNone/>
            </a:pPr>
            <a:r>
              <a:rPr lang="en-US" b="1" dirty="0">
                <a:solidFill>
                  <a:schemeClr val="accent6"/>
                </a:solidFill>
              </a:rPr>
              <a:t>Problem Statement</a:t>
            </a:r>
          </a:p>
          <a:p>
            <a:r>
              <a:rPr lang="en-US" dirty="0"/>
              <a:t>Mutual fund data was distributed across multiple datasets, making analysis complex and time-consuming. </a:t>
            </a:r>
          </a:p>
          <a:p>
            <a:r>
              <a:rPr lang="en-US" dirty="0"/>
              <a:t>Manual analysis made it difficult to compare fund performance, investor behavior, and SIP trends efficiently. </a:t>
            </a:r>
          </a:p>
          <a:p>
            <a:r>
              <a:rPr lang="en-US" dirty="0"/>
              <a:t>There was a need for a centralized, interactive Business Intelligence solution to support data-driven decision-making. </a:t>
            </a:r>
          </a:p>
          <a:p>
            <a:pPr marL="6160" indent="0">
              <a:buNone/>
            </a:pPr>
            <a:r>
              <a:rPr lang="en-US" b="1" dirty="0">
                <a:solidFill>
                  <a:schemeClr val="accent6"/>
                </a:solidFill>
              </a:rPr>
              <a:t>Solution</a:t>
            </a:r>
          </a:p>
          <a:p>
            <a:r>
              <a:rPr lang="en-US" dirty="0"/>
              <a:t>Cleaned and preprocessed raw datasets using </a:t>
            </a:r>
            <a:r>
              <a:rPr lang="en-US" b="1" dirty="0"/>
              <a:t>Python (Pandas &amp; NumPy)</a:t>
            </a:r>
            <a:r>
              <a:rPr lang="en-US" dirty="0"/>
              <a:t>. </a:t>
            </a:r>
          </a:p>
          <a:p>
            <a:r>
              <a:rPr lang="en-US" dirty="0"/>
              <a:t>Stored structured data in </a:t>
            </a:r>
            <a:r>
              <a:rPr lang="en-US" b="1" dirty="0"/>
              <a:t>PostgreSQL</a:t>
            </a:r>
            <a:r>
              <a:rPr lang="en-US" dirty="0"/>
              <a:t>. </a:t>
            </a:r>
          </a:p>
          <a:p>
            <a:r>
              <a:rPr lang="en-US" dirty="0"/>
              <a:t>Connected PostgreSQL to </a:t>
            </a:r>
            <a:r>
              <a:rPr lang="en-US" b="1" dirty="0"/>
              <a:t>Power BI</a:t>
            </a:r>
            <a:r>
              <a:rPr lang="en-US" dirty="0"/>
              <a:t> and transformed data using </a:t>
            </a:r>
            <a:r>
              <a:rPr lang="en-US" b="1" dirty="0"/>
              <a:t>Power Query</a:t>
            </a:r>
            <a:r>
              <a:rPr lang="en-US" dirty="0"/>
              <a:t>. </a:t>
            </a:r>
          </a:p>
          <a:p>
            <a:r>
              <a:rPr lang="en-US" dirty="0"/>
              <a:t>Built a relational data model and created </a:t>
            </a:r>
            <a:r>
              <a:rPr lang="en-US" b="1" dirty="0"/>
              <a:t>DAX</a:t>
            </a:r>
            <a:r>
              <a:rPr lang="en-US" dirty="0"/>
              <a:t> measures. </a:t>
            </a:r>
          </a:p>
          <a:p>
            <a:r>
              <a:rPr lang="en-US" dirty="0"/>
              <a:t>Developed </a:t>
            </a:r>
            <a:r>
              <a:rPr lang="en-US" b="1" dirty="0"/>
              <a:t>four interactive dashboards</a:t>
            </a:r>
            <a:r>
              <a:rPr lang="en-US" dirty="0"/>
              <a:t> to analyze mutual fund performance, investor analytics, and SIP trends.</a:t>
            </a:r>
          </a:p>
          <a:p>
            <a:endParaRPr lang="en-US" dirty="0"/>
          </a:p>
        </p:txBody>
      </p:sp>
      <p:pic>
        <p:nvPicPr>
          <p:cNvPr id="5" name="Picture 4">
            <a:extLst>
              <a:ext uri="{FF2B5EF4-FFF2-40B4-BE49-F238E27FC236}">
                <a16:creationId xmlns:a16="http://schemas.microsoft.com/office/drawing/2014/main" id="{747F1CF3-0928-0314-D2E7-6DCA65D1220D}"/>
              </a:ext>
            </a:extLst>
          </p:cNvPr>
          <p:cNvPicPr>
            <a:picLocks noChangeAspect="1"/>
          </p:cNvPicPr>
          <p:nvPr/>
        </p:nvPicPr>
        <p:blipFill>
          <a:blip r:embed="rId2"/>
          <a:stretch>
            <a:fillRect/>
          </a:stretch>
        </p:blipFill>
        <p:spPr>
          <a:xfrm>
            <a:off x="8749127" y="1299350"/>
            <a:ext cx="2499577" cy="2800978"/>
          </a:xfrm>
          <a:prstGeom prst="rect">
            <a:avLst/>
          </a:prstGeom>
        </p:spPr>
      </p:pic>
      <p:pic>
        <p:nvPicPr>
          <p:cNvPr id="9" name="Picture 8">
            <a:extLst>
              <a:ext uri="{FF2B5EF4-FFF2-40B4-BE49-F238E27FC236}">
                <a16:creationId xmlns:a16="http://schemas.microsoft.com/office/drawing/2014/main" id="{80DF6D86-A6EC-E464-4D28-C94CAE634354}"/>
              </a:ext>
            </a:extLst>
          </p:cNvPr>
          <p:cNvPicPr>
            <a:picLocks noChangeAspect="1"/>
          </p:cNvPicPr>
          <p:nvPr/>
        </p:nvPicPr>
        <p:blipFill>
          <a:blip r:embed="rId3"/>
          <a:stretch>
            <a:fillRect/>
          </a:stretch>
        </p:blipFill>
        <p:spPr>
          <a:xfrm>
            <a:off x="8749126" y="4499110"/>
            <a:ext cx="2499577" cy="2119079"/>
          </a:xfrm>
          <a:prstGeom prst="rect">
            <a:avLst/>
          </a:prstGeom>
        </p:spPr>
      </p:pic>
      <p:pic>
        <p:nvPicPr>
          <p:cNvPr id="11" name="Picture 10">
            <a:extLst>
              <a:ext uri="{FF2B5EF4-FFF2-40B4-BE49-F238E27FC236}">
                <a16:creationId xmlns:a16="http://schemas.microsoft.com/office/drawing/2014/main" id="{728D7DC9-8B66-712E-3317-F6E70A8EB078}"/>
              </a:ext>
            </a:extLst>
          </p:cNvPr>
          <p:cNvPicPr>
            <a:picLocks noChangeAspect="1"/>
          </p:cNvPicPr>
          <p:nvPr/>
        </p:nvPicPr>
        <p:blipFill>
          <a:blip r:embed="rId4"/>
          <a:stretch>
            <a:fillRect/>
          </a:stretch>
        </p:blipFill>
        <p:spPr>
          <a:xfrm>
            <a:off x="5376106" y="5932330"/>
            <a:ext cx="3208298" cy="685859"/>
          </a:xfrm>
          <a:prstGeom prst="rect">
            <a:avLst/>
          </a:prstGeom>
        </p:spPr>
      </p:pic>
      <p:sp>
        <p:nvSpPr>
          <p:cNvPr id="14" name="Content Placeholder 2">
            <a:extLst>
              <a:ext uri="{FF2B5EF4-FFF2-40B4-BE49-F238E27FC236}">
                <a16:creationId xmlns:a16="http://schemas.microsoft.com/office/drawing/2014/main" id="{1AC20837-0062-E990-EE6D-13C5115CD233}"/>
              </a:ext>
            </a:extLst>
          </p:cNvPr>
          <p:cNvSpPr txBox="1">
            <a:spLocks/>
          </p:cNvSpPr>
          <p:nvPr/>
        </p:nvSpPr>
        <p:spPr>
          <a:xfrm>
            <a:off x="5948517" y="1299350"/>
            <a:ext cx="2800610" cy="4632980"/>
          </a:xfrm>
          <a:prstGeom prst="rect">
            <a:avLst/>
          </a:prstGeom>
        </p:spPr>
        <p:txBody>
          <a:bodyPr vert="horz" lIns="91440" tIns="45720" rIns="91440" bIns="45720" rtlCol="0" anchor="ctr">
            <a:normAutofit fontScale="55000" lnSpcReduction="20000"/>
          </a:bodyPr>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6160" indent="0" algn="ctr">
              <a:buNone/>
            </a:pPr>
            <a:r>
              <a:rPr lang="en-US" b="1" dirty="0"/>
              <a:t>Raw Datasets</a:t>
            </a:r>
          </a:p>
          <a:p>
            <a:pPr marL="6160" indent="0" algn="ctr">
              <a:buNone/>
            </a:pPr>
            <a:r>
              <a:rPr lang="en-US" b="1" dirty="0"/>
              <a:t>      ↓</a:t>
            </a:r>
          </a:p>
          <a:p>
            <a:pPr marL="6160" indent="0" algn="ctr">
              <a:buNone/>
            </a:pPr>
            <a:r>
              <a:rPr lang="en-US" b="1" dirty="0"/>
              <a:t>Python (Data Cleaning)</a:t>
            </a:r>
          </a:p>
          <a:p>
            <a:pPr marL="6160" indent="0" algn="ctr">
              <a:buNone/>
            </a:pPr>
            <a:r>
              <a:rPr lang="en-US" b="1" dirty="0"/>
              <a:t>      ↓</a:t>
            </a:r>
          </a:p>
          <a:p>
            <a:pPr marL="6160" indent="0" algn="ctr">
              <a:buNone/>
            </a:pPr>
            <a:r>
              <a:rPr lang="en-US" b="1" dirty="0"/>
              <a:t>PostgreSQL</a:t>
            </a:r>
          </a:p>
          <a:p>
            <a:pPr marL="6160" indent="0" algn="ctr">
              <a:buNone/>
            </a:pPr>
            <a:r>
              <a:rPr lang="en-US" b="1" dirty="0"/>
              <a:t>      ↓</a:t>
            </a:r>
          </a:p>
          <a:p>
            <a:pPr marL="6160" indent="0" algn="ctr">
              <a:buNone/>
            </a:pPr>
            <a:r>
              <a:rPr lang="en-US" b="1" dirty="0"/>
              <a:t>Power BI (Power Query)</a:t>
            </a:r>
          </a:p>
          <a:p>
            <a:pPr marL="6160" indent="0" algn="ctr">
              <a:buNone/>
            </a:pPr>
            <a:r>
              <a:rPr lang="en-US" b="1" dirty="0"/>
              <a:t>      ↓</a:t>
            </a:r>
          </a:p>
          <a:p>
            <a:pPr marL="6160" indent="0" algn="ctr">
              <a:buNone/>
            </a:pPr>
            <a:r>
              <a:rPr lang="en-US" b="1" dirty="0"/>
              <a:t>Data Modeling</a:t>
            </a:r>
          </a:p>
          <a:p>
            <a:pPr marL="6160" indent="0" algn="ctr">
              <a:buNone/>
            </a:pPr>
            <a:r>
              <a:rPr lang="en-US" b="1" dirty="0"/>
              <a:t>      ↓</a:t>
            </a:r>
          </a:p>
          <a:p>
            <a:pPr marL="6160" indent="0" algn="ctr">
              <a:buNone/>
            </a:pPr>
            <a:r>
              <a:rPr lang="en-US" b="1" dirty="0"/>
              <a:t>DAX Measures</a:t>
            </a:r>
          </a:p>
          <a:p>
            <a:pPr marL="6160" indent="0" algn="ctr">
              <a:buNone/>
            </a:pPr>
            <a:r>
              <a:rPr lang="en-US" b="1" dirty="0"/>
              <a:t>      ↓</a:t>
            </a:r>
          </a:p>
          <a:p>
            <a:pPr marL="6160" indent="0" algn="ctr">
              <a:buNone/>
            </a:pPr>
            <a:r>
              <a:rPr lang="en-US" b="1" dirty="0"/>
              <a:t>Interactive Dashboards</a:t>
            </a:r>
          </a:p>
          <a:p>
            <a:pPr marL="6160" indent="0" algn="ctr">
              <a:buNone/>
            </a:pPr>
            <a:r>
              <a:rPr lang="en-US" b="1" dirty="0"/>
              <a:t>      ↓</a:t>
            </a:r>
          </a:p>
          <a:p>
            <a:pPr marL="6160" indent="0" algn="ctr">
              <a:buNone/>
            </a:pPr>
            <a:r>
              <a:rPr lang="en-US" b="1" dirty="0"/>
              <a:t>Business Insights</a:t>
            </a:r>
          </a:p>
        </p:txBody>
      </p:sp>
      <p:pic>
        <p:nvPicPr>
          <p:cNvPr id="16" name="Picture 15">
            <a:extLst>
              <a:ext uri="{FF2B5EF4-FFF2-40B4-BE49-F238E27FC236}">
                <a16:creationId xmlns:a16="http://schemas.microsoft.com/office/drawing/2014/main" id="{BD37F2DD-4073-9069-CB4E-83ED334E4ED1}"/>
              </a:ext>
            </a:extLst>
          </p:cNvPr>
          <p:cNvPicPr>
            <a:picLocks noChangeAspect="1"/>
          </p:cNvPicPr>
          <p:nvPr/>
        </p:nvPicPr>
        <p:blipFill>
          <a:blip r:embed="rId5"/>
          <a:stretch>
            <a:fillRect/>
          </a:stretch>
        </p:blipFill>
        <p:spPr>
          <a:xfrm>
            <a:off x="3009461" y="5894226"/>
            <a:ext cx="2080440" cy="723963"/>
          </a:xfrm>
          <a:prstGeom prst="rect">
            <a:avLst/>
          </a:prstGeom>
        </p:spPr>
      </p:pic>
    </p:spTree>
    <p:extLst>
      <p:ext uri="{BB962C8B-B14F-4D97-AF65-F5344CB8AC3E}">
        <p14:creationId xmlns:p14="http://schemas.microsoft.com/office/powerpoint/2010/main" val="889670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916CA-3048-194F-4612-3397945AB9C2}"/>
              </a:ext>
            </a:extLst>
          </p:cNvPr>
          <p:cNvSpPr>
            <a:spLocks noGrp="1"/>
          </p:cNvSpPr>
          <p:nvPr>
            <p:ph type="title"/>
          </p:nvPr>
        </p:nvSpPr>
        <p:spPr>
          <a:xfrm>
            <a:off x="1034980" y="0"/>
            <a:ext cx="4834878" cy="560438"/>
          </a:xfrm>
        </p:spPr>
        <p:txBody>
          <a:bodyPr>
            <a:noAutofit/>
          </a:bodyPr>
          <a:lstStyle/>
          <a:p>
            <a:pPr algn="l"/>
            <a:r>
              <a:rPr lang="en-US" sz="3600" b="1" dirty="0">
                <a:solidFill>
                  <a:schemeClr val="tx2"/>
                </a:solidFill>
              </a:rPr>
              <a:t>Overview Dashboard</a:t>
            </a:r>
          </a:p>
        </p:txBody>
      </p:sp>
      <p:pic>
        <p:nvPicPr>
          <p:cNvPr id="5" name="Content Placeholder 4">
            <a:extLst>
              <a:ext uri="{FF2B5EF4-FFF2-40B4-BE49-F238E27FC236}">
                <a16:creationId xmlns:a16="http://schemas.microsoft.com/office/drawing/2014/main" id="{21992139-B01A-6851-45DD-EC1EAE0C530C}"/>
              </a:ext>
            </a:extLst>
          </p:cNvPr>
          <p:cNvPicPr>
            <a:picLocks noGrp="1" noChangeAspect="1"/>
          </p:cNvPicPr>
          <p:nvPr>
            <p:ph idx="1"/>
          </p:nvPr>
        </p:nvPicPr>
        <p:blipFill>
          <a:blip r:embed="rId2"/>
          <a:stretch>
            <a:fillRect/>
          </a:stretch>
        </p:blipFill>
        <p:spPr>
          <a:xfrm>
            <a:off x="1034980" y="560438"/>
            <a:ext cx="6388375" cy="2868562"/>
          </a:xfrm>
          <a:prstGeom prst="rect">
            <a:avLst/>
          </a:prstGeom>
        </p:spPr>
      </p:pic>
      <p:sp>
        <p:nvSpPr>
          <p:cNvPr id="7" name="TextBox 6">
            <a:extLst>
              <a:ext uri="{FF2B5EF4-FFF2-40B4-BE49-F238E27FC236}">
                <a16:creationId xmlns:a16="http://schemas.microsoft.com/office/drawing/2014/main" id="{0921D072-1562-61A4-17FA-B954C8CE0915}"/>
              </a:ext>
            </a:extLst>
          </p:cNvPr>
          <p:cNvSpPr txBox="1"/>
          <p:nvPr/>
        </p:nvSpPr>
        <p:spPr>
          <a:xfrm>
            <a:off x="1034980" y="3517491"/>
            <a:ext cx="6096000" cy="1754326"/>
          </a:xfrm>
          <a:prstGeom prst="rect">
            <a:avLst/>
          </a:prstGeom>
          <a:noFill/>
        </p:spPr>
        <p:txBody>
          <a:bodyPr wrap="square">
            <a:spAutoFit/>
          </a:bodyPr>
          <a:lstStyle/>
          <a:p>
            <a:r>
              <a:rPr lang="en-US" b="1" dirty="0">
                <a:solidFill>
                  <a:schemeClr val="accent6"/>
                </a:solidFill>
              </a:rPr>
              <a:t>Objective</a:t>
            </a:r>
          </a:p>
          <a:p>
            <a:r>
              <a:rPr lang="en-US" dirty="0"/>
              <a:t>The Overview Dashboard provides a consolidated view of the mutual fund ecosystem by displaying key performance indicators, fund house rankings, category-wise inflows, and SIP growth trends. It enables users to monitor overall market performance through an interactive interface.</a:t>
            </a:r>
          </a:p>
        </p:txBody>
      </p:sp>
      <p:sp>
        <p:nvSpPr>
          <p:cNvPr id="8" name="TextBox 7">
            <a:extLst>
              <a:ext uri="{FF2B5EF4-FFF2-40B4-BE49-F238E27FC236}">
                <a16:creationId xmlns:a16="http://schemas.microsoft.com/office/drawing/2014/main" id="{CB964974-F7E2-AB41-454D-C76E509877B2}"/>
              </a:ext>
            </a:extLst>
          </p:cNvPr>
          <p:cNvSpPr txBox="1"/>
          <p:nvPr/>
        </p:nvSpPr>
        <p:spPr>
          <a:xfrm>
            <a:off x="1034980" y="5271817"/>
            <a:ext cx="6096000" cy="1477328"/>
          </a:xfrm>
          <a:prstGeom prst="rect">
            <a:avLst/>
          </a:prstGeom>
          <a:noFill/>
        </p:spPr>
        <p:txBody>
          <a:bodyPr wrap="square">
            <a:spAutoFit/>
          </a:bodyPr>
          <a:lstStyle/>
          <a:p>
            <a:r>
              <a:rPr lang="en-US" b="1" dirty="0">
                <a:solidFill>
                  <a:schemeClr val="accent6"/>
                </a:solidFill>
              </a:rPr>
              <a:t>Key Performance Indicators (KPIs)</a:t>
            </a:r>
          </a:p>
          <a:p>
            <a:r>
              <a:rPr lang="en-US" b="1" dirty="0"/>
              <a:t>Total AUM:</a:t>
            </a:r>
            <a:r>
              <a:rPr lang="en-US" dirty="0"/>
              <a:t> ₹39 Million </a:t>
            </a:r>
          </a:p>
          <a:p>
            <a:r>
              <a:rPr lang="en-US" b="1" dirty="0"/>
              <a:t>Total SIP Inflow:</a:t>
            </a:r>
            <a:r>
              <a:rPr lang="en-US" dirty="0"/>
              <a:t> 940K </a:t>
            </a:r>
          </a:p>
          <a:p>
            <a:r>
              <a:rPr lang="en-US" b="1" dirty="0"/>
              <a:t>Total Mutual Fund Schemes:</a:t>
            </a:r>
            <a:r>
              <a:rPr lang="en-US" dirty="0"/>
              <a:t> 40 </a:t>
            </a:r>
          </a:p>
          <a:p>
            <a:r>
              <a:rPr lang="en-US" b="1" dirty="0"/>
              <a:t>Total Investors:</a:t>
            </a:r>
            <a:r>
              <a:rPr lang="en-US" dirty="0"/>
              <a:t> 5,000</a:t>
            </a:r>
          </a:p>
        </p:txBody>
      </p:sp>
      <p:sp>
        <p:nvSpPr>
          <p:cNvPr id="9" name="TextBox 8">
            <a:extLst>
              <a:ext uri="{FF2B5EF4-FFF2-40B4-BE49-F238E27FC236}">
                <a16:creationId xmlns:a16="http://schemas.microsoft.com/office/drawing/2014/main" id="{6B2574A6-097C-719B-419B-8DD07E41935B}"/>
              </a:ext>
            </a:extLst>
          </p:cNvPr>
          <p:cNvSpPr txBox="1"/>
          <p:nvPr/>
        </p:nvSpPr>
        <p:spPr>
          <a:xfrm>
            <a:off x="7423355" y="468104"/>
            <a:ext cx="3939276" cy="3354765"/>
          </a:xfrm>
          <a:prstGeom prst="rect">
            <a:avLst/>
          </a:prstGeom>
          <a:noFill/>
        </p:spPr>
        <p:txBody>
          <a:bodyPr wrap="square">
            <a:spAutoFit/>
          </a:bodyPr>
          <a:lstStyle/>
          <a:p>
            <a:r>
              <a:rPr lang="en-US" b="1" dirty="0">
                <a:solidFill>
                  <a:schemeClr val="accent6"/>
                </a:solidFill>
              </a:rPr>
              <a:t>Dashboard Highlights</a:t>
            </a:r>
          </a:p>
          <a:p>
            <a:r>
              <a:rPr lang="en-US" sz="1600" dirty="0"/>
              <a:t>Top 10 Fund Houses ranked by Assets Under Management (AUM). </a:t>
            </a:r>
          </a:p>
          <a:p>
            <a:r>
              <a:rPr lang="en-US" sz="1600" dirty="0"/>
              <a:t>Category-wise SIP inflow distribution using a donut chart. </a:t>
            </a:r>
          </a:p>
          <a:p>
            <a:r>
              <a:rPr lang="en-US" sz="1600" dirty="0"/>
              <a:t>Folio Growth Trend showing growth over time. </a:t>
            </a:r>
          </a:p>
          <a:p>
            <a:r>
              <a:rPr lang="en-US" sz="1600" dirty="0"/>
              <a:t>Monthly SIP Trend to monitor investment patterns. </a:t>
            </a:r>
          </a:p>
          <a:p>
            <a:r>
              <a:rPr lang="en-US" sz="1600" dirty="0"/>
              <a:t>Interactive slicers for </a:t>
            </a:r>
            <a:r>
              <a:rPr lang="en-US" sz="1600" b="1" dirty="0"/>
              <a:t>Fund House</a:t>
            </a:r>
            <a:r>
              <a:rPr lang="en-US" sz="1600" dirty="0"/>
              <a:t>, </a:t>
            </a:r>
            <a:r>
              <a:rPr lang="en-US" sz="1600" b="1" dirty="0"/>
              <a:t>Category</a:t>
            </a:r>
            <a:r>
              <a:rPr lang="en-US" sz="1600" dirty="0"/>
              <a:t>, and </a:t>
            </a:r>
            <a:r>
              <a:rPr lang="en-US" sz="1600" b="1" dirty="0"/>
              <a:t>Month-Year</a:t>
            </a:r>
            <a:r>
              <a:rPr lang="en-US" sz="1600" dirty="0"/>
              <a:t> filtering. </a:t>
            </a:r>
          </a:p>
          <a:p>
            <a:r>
              <a:rPr lang="en-US" sz="1600" dirty="0"/>
              <a:t>Dynamic dashboard title that updates based on user selections</a:t>
            </a:r>
            <a:r>
              <a:rPr lang="en-US" dirty="0"/>
              <a:t>.</a:t>
            </a:r>
          </a:p>
        </p:txBody>
      </p:sp>
      <p:sp>
        <p:nvSpPr>
          <p:cNvPr id="13" name="TextBox 12">
            <a:extLst>
              <a:ext uri="{FF2B5EF4-FFF2-40B4-BE49-F238E27FC236}">
                <a16:creationId xmlns:a16="http://schemas.microsoft.com/office/drawing/2014/main" id="{DA4137BA-E6EB-9809-16EE-4DA48D2C8831}"/>
              </a:ext>
            </a:extLst>
          </p:cNvPr>
          <p:cNvSpPr txBox="1"/>
          <p:nvPr/>
        </p:nvSpPr>
        <p:spPr>
          <a:xfrm>
            <a:off x="7325032" y="4309611"/>
            <a:ext cx="4037599" cy="2339102"/>
          </a:xfrm>
          <a:prstGeom prst="rect">
            <a:avLst/>
          </a:prstGeom>
          <a:noFill/>
        </p:spPr>
        <p:txBody>
          <a:bodyPr wrap="square">
            <a:spAutoFit/>
          </a:bodyPr>
          <a:lstStyle/>
          <a:p>
            <a:pPr>
              <a:buNone/>
            </a:pPr>
            <a:r>
              <a:rPr lang="en-US" b="1" dirty="0">
                <a:solidFill>
                  <a:schemeClr val="accent6"/>
                </a:solidFill>
              </a:rPr>
              <a:t>Business Insights</a:t>
            </a:r>
          </a:p>
          <a:p>
            <a:pPr>
              <a:buFont typeface="Arial" panose="020B0604020202020204" pitchFamily="34" charset="0"/>
              <a:buChar char="•"/>
            </a:pPr>
            <a:r>
              <a:rPr lang="en-US" sz="1600" dirty="0"/>
              <a:t>SBI Mutual Fund has the highest AUM among all fund houses. </a:t>
            </a:r>
          </a:p>
          <a:p>
            <a:pPr>
              <a:buFont typeface="Arial" panose="020B0604020202020204" pitchFamily="34" charset="0"/>
              <a:buChar char="•"/>
            </a:pPr>
            <a:r>
              <a:rPr lang="en-US" sz="1600" dirty="0"/>
              <a:t>Equity-oriented categories contribute the largest share of inflows. </a:t>
            </a:r>
          </a:p>
          <a:p>
            <a:pPr>
              <a:buFont typeface="Arial" panose="020B0604020202020204" pitchFamily="34" charset="0"/>
              <a:buChar char="•"/>
            </a:pPr>
            <a:r>
              <a:rPr lang="en-US" sz="1600" dirty="0"/>
              <a:t>Monthly SIP contributions show a consistent upward trend. </a:t>
            </a:r>
          </a:p>
          <a:p>
            <a:pPr>
              <a:buFont typeface="Arial" panose="020B0604020202020204" pitchFamily="34" charset="0"/>
              <a:buChar char="•"/>
            </a:pPr>
            <a:r>
              <a:rPr lang="en-US" sz="1600" dirty="0"/>
              <a:t>Folio count has grown steadily, indicating increasing investor participation.</a:t>
            </a:r>
          </a:p>
        </p:txBody>
      </p:sp>
    </p:spTree>
    <p:extLst>
      <p:ext uri="{BB962C8B-B14F-4D97-AF65-F5344CB8AC3E}">
        <p14:creationId xmlns:p14="http://schemas.microsoft.com/office/powerpoint/2010/main" val="3960575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66B94-1797-0723-3E2C-901729B9D96F}"/>
              </a:ext>
            </a:extLst>
          </p:cNvPr>
          <p:cNvSpPr>
            <a:spLocks noGrp="1"/>
          </p:cNvSpPr>
          <p:nvPr>
            <p:ph type="title"/>
          </p:nvPr>
        </p:nvSpPr>
        <p:spPr>
          <a:xfrm>
            <a:off x="1068145" y="219932"/>
            <a:ext cx="5981584" cy="456396"/>
          </a:xfrm>
        </p:spPr>
        <p:txBody>
          <a:bodyPr>
            <a:normAutofit fontScale="90000"/>
          </a:bodyPr>
          <a:lstStyle/>
          <a:p>
            <a:pPr algn="l"/>
            <a:r>
              <a:rPr lang="en-US" b="1" dirty="0">
                <a:solidFill>
                  <a:schemeClr val="tx2">
                    <a:lumMod val="90000"/>
                  </a:schemeClr>
                </a:solidFill>
              </a:rPr>
              <a:t>Fund Performance Dashboard</a:t>
            </a:r>
          </a:p>
        </p:txBody>
      </p:sp>
      <p:pic>
        <p:nvPicPr>
          <p:cNvPr id="5" name="Content Placeholder 4">
            <a:extLst>
              <a:ext uri="{FF2B5EF4-FFF2-40B4-BE49-F238E27FC236}">
                <a16:creationId xmlns:a16="http://schemas.microsoft.com/office/drawing/2014/main" id="{63C73927-4C79-C496-3ABE-E9FA78A0B190}"/>
              </a:ext>
            </a:extLst>
          </p:cNvPr>
          <p:cNvPicPr>
            <a:picLocks noGrp="1" noChangeAspect="1"/>
          </p:cNvPicPr>
          <p:nvPr>
            <p:ph idx="1"/>
          </p:nvPr>
        </p:nvPicPr>
        <p:blipFill>
          <a:blip r:embed="rId2"/>
          <a:stretch>
            <a:fillRect/>
          </a:stretch>
        </p:blipFill>
        <p:spPr>
          <a:xfrm>
            <a:off x="1068145" y="676328"/>
            <a:ext cx="5981584" cy="3380619"/>
          </a:xfrm>
          <a:prstGeom prst="rect">
            <a:avLst/>
          </a:prstGeom>
        </p:spPr>
      </p:pic>
      <p:sp>
        <p:nvSpPr>
          <p:cNvPr id="7" name="TextBox 6">
            <a:extLst>
              <a:ext uri="{FF2B5EF4-FFF2-40B4-BE49-F238E27FC236}">
                <a16:creationId xmlns:a16="http://schemas.microsoft.com/office/drawing/2014/main" id="{C06CE520-5F9D-C3F9-D4C9-2BF64A27A365}"/>
              </a:ext>
            </a:extLst>
          </p:cNvPr>
          <p:cNvSpPr txBox="1"/>
          <p:nvPr/>
        </p:nvSpPr>
        <p:spPr>
          <a:xfrm>
            <a:off x="1068145" y="4382985"/>
            <a:ext cx="6096000" cy="1754326"/>
          </a:xfrm>
          <a:prstGeom prst="rect">
            <a:avLst/>
          </a:prstGeom>
          <a:noFill/>
        </p:spPr>
        <p:txBody>
          <a:bodyPr wrap="square">
            <a:spAutoFit/>
          </a:bodyPr>
          <a:lstStyle/>
          <a:p>
            <a:pPr>
              <a:buNone/>
            </a:pPr>
            <a:r>
              <a:rPr lang="en-US" b="1" dirty="0">
                <a:solidFill>
                  <a:schemeClr val="accent6"/>
                </a:solidFill>
              </a:rPr>
              <a:t>Objective</a:t>
            </a:r>
          </a:p>
          <a:p>
            <a:pPr>
              <a:buNone/>
            </a:pPr>
            <a:r>
              <a:rPr lang="en-US" dirty="0"/>
              <a:t>The Fund Performance Dashboard evaluates the performance of mutual funds by analyzing key financial metrics such as returns, Alpha, Sharpe Ratio, and risk levels. It enables users to compare fund houses and investment categories for better investment decisions.</a:t>
            </a:r>
          </a:p>
        </p:txBody>
      </p:sp>
      <p:sp>
        <p:nvSpPr>
          <p:cNvPr id="9" name="TextBox 8">
            <a:extLst>
              <a:ext uri="{FF2B5EF4-FFF2-40B4-BE49-F238E27FC236}">
                <a16:creationId xmlns:a16="http://schemas.microsoft.com/office/drawing/2014/main" id="{9CE81C82-52C2-E901-27C6-0E21B926C93B}"/>
              </a:ext>
            </a:extLst>
          </p:cNvPr>
          <p:cNvSpPr txBox="1"/>
          <p:nvPr/>
        </p:nvSpPr>
        <p:spPr>
          <a:xfrm>
            <a:off x="7325031" y="414534"/>
            <a:ext cx="4021395" cy="1354217"/>
          </a:xfrm>
          <a:prstGeom prst="rect">
            <a:avLst/>
          </a:prstGeom>
          <a:noFill/>
        </p:spPr>
        <p:txBody>
          <a:bodyPr wrap="square">
            <a:spAutoFit/>
          </a:bodyPr>
          <a:lstStyle/>
          <a:p>
            <a:pPr>
              <a:buNone/>
            </a:pPr>
            <a:r>
              <a:rPr lang="en-US" b="1" dirty="0">
                <a:solidFill>
                  <a:schemeClr val="accent6"/>
                </a:solidFill>
              </a:rPr>
              <a:t>Key Performance Indicators (KPIs)</a:t>
            </a:r>
          </a:p>
          <a:p>
            <a:pPr>
              <a:buFont typeface="Arial" panose="020B0604020202020204" pitchFamily="34" charset="0"/>
              <a:buChar char="•"/>
            </a:pPr>
            <a:r>
              <a:rPr lang="en-US" sz="1600" dirty="0"/>
              <a:t>Average 1-Year Return </a:t>
            </a:r>
          </a:p>
          <a:p>
            <a:pPr>
              <a:buFont typeface="Arial" panose="020B0604020202020204" pitchFamily="34" charset="0"/>
              <a:buChar char="•"/>
            </a:pPr>
            <a:r>
              <a:rPr lang="en-US" sz="1600" dirty="0"/>
              <a:t>Average 3-Year Return </a:t>
            </a:r>
          </a:p>
          <a:p>
            <a:pPr>
              <a:buFont typeface="Arial" panose="020B0604020202020204" pitchFamily="34" charset="0"/>
              <a:buChar char="•"/>
            </a:pPr>
            <a:r>
              <a:rPr lang="en-US" sz="1600" dirty="0"/>
              <a:t>Average Alpha </a:t>
            </a:r>
          </a:p>
          <a:p>
            <a:pPr>
              <a:buFont typeface="Arial" panose="020B0604020202020204" pitchFamily="34" charset="0"/>
              <a:buChar char="•"/>
            </a:pPr>
            <a:r>
              <a:rPr lang="en-US" sz="1600" dirty="0"/>
              <a:t>Average Sharpe Ratio</a:t>
            </a:r>
          </a:p>
        </p:txBody>
      </p:sp>
      <p:sp>
        <p:nvSpPr>
          <p:cNvPr id="11" name="TextBox 10">
            <a:extLst>
              <a:ext uri="{FF2B5EF4-FFF2-40B4-BE49-F238E27FC236}">
                <a16:creationId xmlns:a16="http://schemas.microsoft.com/office/drawing/2014/main" id="{7385E583-DC66-55A8-2342-1AF2F732C53B}"/>
              </a:ext>
            </a:extLst>
          </p:cNvPr>
          <p:cNvSpPr txBox="1"/>
          <p:nvPr/>
        </p:nvSpPr>
        <p:spPr>
          <a:xfrm>
            <a:off x="7310281" y="1964066"/>
            <a:ext cx="4021395" cy="2092881"/>
          </a:xfrm>
          <a:prstGeom prst="rect">
            <a:avLst/>
          </a:prstGeom>
          <a:noFill/>
        </p:spPr>
        <p:txBody>
          <a:bodyPr wrap="square">
            <a:spAutoFit/>
          </a:bodyPr>
          <a:lstStyle/>
          <a:p>
            <a:pPr>
              <a:buNone/>
            </a:pPr>
            <a:r>
              <a:rPr lang="en-US" b="1" dirty="0">
                <a:solidFill>
                  <a:schemeClr val="accent6"/>
                </a:solidFill>
              </a:rPr>
              <a:t>Dashboard Highlights</a:t>
            </a:r>
          </a:p>
          <a:p>
            <a:pPr>
              <a:buFont typeface="Arial" panose="020B0604020202020204" pitchFamily="34" charset="0"/>
              <a:buChar char="•"/>
            </a:pPr>
            <a:r>
              <a:rPr lang="en-US" sz="1600" dirty="0"/>
              <a:t>Top 10 Schemes by 3-Year Return </a:t>
            </a:r>
          </a:p>
          <a:p>
            <a:pPr>
              <a:buFont typeface="Arial" panose="020B0604020202020204" pitchFamily="34" charset="0"/>
              <a:buChar char="•"/>
            </a:pPr>
            <a:r>
              <a:rPr lang="en-US" sz="1600" dirty="0"/>
              <a:t>Risk vs Return Analysis </a:t>
            </a:r>
          </a:p>
          <a:p>
            <a:pPr>
              <a:buFont typeface="Arial" panose="020B0604020202020204" pitchFamily="34" charset="0"/>
              <a:buChar char="•"/>
            </a:pPr>
            <a:r>
              <a:rPr lang="en-US" sz="1600" dirty="0"/>
              <a:t>Average Return by Category </a:t>
            </a:r>
          </a:p>
          <a:p>
            <a:pPr>
              <a:buFont typeface="Arial" panose="020B0604020202020204" pitchFamily="34" charset="0"/>
              <a:buChar char="•"/>
            </a:pPr>
            <a:r>
              <a:rPr lang="en-US" sz="1600" dirty="0"/>
              <a:t>Average Alpha by Fund House </a:t>
            </a:r>
          </a:p>
          <a:p>
            <a:pPr>
              <a:buFont typeface="Arial" panose="020B0604020202020204" pitchFamily="34" charset="0"/>
              <a:buChar char="•"/>
            </a:pPr>
            <a:r>
              <a:rPr lang="en-US" sz="1600" dirty="0"/>
              <a:t>Interactive slicers for </a:t>
            </a:r>
            <a:r>
              <a:rPr lang="en-US" sz="1600" b="1" dirty="0"/>
              <a:t>Fund House</a:t>
            </a:r>
            <a:r>
              <a:rPr lang="en-US" sz="1600" dirty="0"/>
              <a:t>, </a:t>
            </a:r>
            <a:r>
              <a:rPr lang="en-US" sz="1600" b="1" dirty="0"/>
              <a:t>Category</a:t>
            </a:r>
            <a:r>
              <a:rPr lang="en-US" sz="1600" dirty="0"/>
              <a:t>, and </a:t>
            </a:r>
            <a:r>
              <a:rPr lang="en-US" sz="1600" b="1" dirty="0"/>
              <a:t>Risk Grade</a:t>
            </a:r>
            <a:r>
              <a:rPr lang="en-US" sz="1600" dirty="0"/>
              <a:t> </a:t>
            </a:r>
          </a:p>
          <a:p>
            <a:pPr>
              <a:buFont typeface="Arial" panose="020B0604020202020204" pitchFamily="34" charset="0"/>
              <a:buChar char="•"/>
            </a:pPr>
            <a:r>
              <a:rPr lang="en-US" sz="1600" dirty="0"/>
              <a:t>Dynamic title based on selected filters</a:t>
            </a:r>
          </a:p>
        </p:txBody>
      </p:sp>
      <p:sp>
        <p:nvSpPr>
          <p:cNvPr id="12" name="TextBox 11">
            <a:extLst>
              <a:ext uri="{FF2B5EF4-FFF2-40B4-BE49-F238E27FC236}">
                <a16:creationId xmlns:a16="http://schemas.microsoft.com/office/drawing/2014/main" id="{BD4C8196-BD21-440A-1A83-B0A14075189C}"/>
              </a:ext>
            </a:extLst>
          </p:cNvPr>
          <p:cNvSpPr txBox="1"/>
          <p:nvPr/>
        </p:nvSpPr>
        <p:spPr>
          <a:xfrm>
            <a:off x="7310281" y="4252262"/>
            <a:ext cx="4021395" cy="2339102"/>
          </a:xfrm>
          <a:prstGeom prst="rect">
            <a:avLst/>
          </a:prstGeom>
          <a:noFill/>
        </p:spPr>
        <p:txBody>
          <a:bodyPr wrap="square">
            <a:spAutoFit/>
          </a:bodyPr>
          <a:lstStyle/>
          <a:p>
            <a:pPr>
              <a:buNone/>
            </a:pPr>
            <a:r>
              <a:rPr lang="en-US" b="1" dirty="0" err="1">
                <a:solidFill>
                  <a:schemeClr val="accent6"/>
                </a:solidFill>
              </a:rPr>
              <a:t>Buisness</a:t>
            </a:r>
            <a:r>
              <a:rPr lang="en-US" b="1" dirty="0">
                <a:solidFill>
                  <a:schemeClr val="accent6"/>
                </a:solidFill>
              </a:rPr>
              <a:t> Insights</a:t>
            </a:r>
          </a:p>
          <a:p>
            <a:pPr>
              <a:buFont typeface="Arial" panose="020B0604020202020204" pitchFamily="34" charset="0"/>
              <a:buChar char="•"/>
            </a:pPr>
            <a:r>
              <a:rPr lang="en-US" sz="1600" dirty="0"/>
              <a:t>Identifies top-performing mutual fund schemes. </a:t>
            </a:r>
          </a:p>
          <a:p>
            <a:pPr>
              <a:buFont typeface="Arial" panose="020B0604020202020204" pitchFamily="34" charset="0"/>
              <a:buChar char="•"/>
            </a:pPr>
            <a:r>
              <a:rPr lang="en-US" sz="1600" dirty="0"/>
              <a:t>Compares returns across different investment categories. </a:t>
            </a:r>
          </a:p>
          <a:p>
            <a:pPr>
              <a:buFont typeface="Arial" panose="020B0604020202020204" pitchFamily="34" charset="0"/>
              <a:buChar char="•"/>
            </a:pPr>
            <a:r>
              <a:rPr lang="en-US" sz="1600" dirty="0"/>
              <a:t>Evaluates the relationship between risk and return. </a:t>
            </a:r>
          </a:p>
          <a:p>
            <a:pPr>
              <a:buFont typeface="Arial" panose="020B0604020202020204" pitchFamily="34" charset="0"/>
              <a:buChar char="•"/>
            </a:pPr>
            <a:r>
              <a:rPr lang="en-US" sz="1600" dirty="0"/>
              <a:t>Helps investors choose funds based on performance and risk profile.</a:t>
            </a:r>
          </a:p>
        </p:txBody>
      </p:sp>
    </p:spTree>
    <p:extLst>
      <p:ext uri="{BB962C8B-B14F-4D97-AF65-F5344CB8AC3E}">
        <p14:creationId xmlns:p14="http://schemas.microsoft.com/office/powerpoint/2010/main" val="1754031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E15B-6ACF-6257-4E56-64AFF18D3439}"/>
              </a:ext>
            </a:extLst>
          </p:cNvPr>
          <p:cNvSpPr>
            <a:spLocks noGrp="1"/>
          </p:cNvSpPr>
          <p:nvPr>
            <p:ph type="title"/>
          </p:nvPr>
        </p:nvSpPr>
        <p:spPr>
          <a:xfrm>
            <a:off x="1077976" y="100134"/>
            <a:ext cx="6384707" cy="529131"/>
          </a:xfrm>
        </p:spPr>
        <p:txBody>
          <a:bodyPr>
            <a:normAutofit fontScale="90000"/>
          </a:bodyPr>
          <a:lstStyle/>
          <a:p>
            <a:pPr algn="l"/>
            <a:r>
              <a:rPr lang="en-US" b="1" dirty="0">
                <a:solidFill>
                  <a:schemeClr val="tx2"/>
                </a:solidFill>
              </a:rPr>
              <a:t>Investor Analytics Dashboard</a:t>
            </a:r>
          </a:p>
        </p:txBody>
      </p:sp>
      <p:pic>
        <p:nvPicPr>
          <p:cNvPr id="5" name="Content Placeholder 4">
            <a:extLst>
              <a:ext uri="{FF2B5EF4-FFF2-40B4-BE49-F238E27FC236}">
                <a16:creationId xmlns:a16="http://schemas.microsoft.com/office/drawing/2014/main" id="{FEDA1428-EF63-87AE-7C9C-26442E39EAE5}"/>
              </a:ext>
            </a:extLst>
          </p:cNvPr>
          <p:cNvPicPr>
            <a:picLocks noGrp="1" noChangeAspect="1"/>
          </p:cNvPicPr>
          <p:nvPr>
            <p:ph idx="1"/>
          </p:nvPr>
        </p:nvPicPr>
        <p:blipFill>
          <a:blip r:embed="rId2"/>
          <a:stretch>
            <a:fillRect/>
          </a:stretch>
        </p:blipFill>
        <p:spPr>
          <a:xfrm>
            <a:off x="1077976" y="629265"/>
            <a:ext cx="6384707" cy="3127273"/>
          </a:xfrm>
          <a:prstGeom prst="rect">
            <a:avLst/>
          </a:prstGeom>
        </p:spPr>
      </p:pic>
      <p:sp>
        <p:nvSpPr>
          <p:cNvPr id="7" name="TextBox 6">
            <a:extLst>
              <a:ext uri="{FF2B5EF4-FFF2-40B4-BE49-F238E27FC236}">
                <a16:creationId xmlns:a16="http://schemas.microsoft.com/office/drawing/2014/main" id="{BCE21ADC-7FB3-EE60-1047-E528D899C913}"/>
              </a:ext>
            </a:extLst>
          </p:cNvPr>
          <p:cNvSpPr txBox="1"/>
          <p:nvPr/>
        </p:nvSpPr>
        <p:spPr>
          <a:xfrm>
            <a:off x="1077976" y="3756538"/>
            <a:ext cx="6096000" cy="1354217"/>
          </a:xfrm>
          <a:prstGeom prst="rect">
            <a:avLst/>
          </a:prstGeom>
          <a:noFill/>
        </p:spPr>
        <p:txBody>
          <a:bodyPr wrap="square">
            <a:spAutoFit/>
          </a:bodyPr>
          <a:lstStyle/>
          <a:p>
            <a:pPr>
              <a:buNone/>
            </a:pPr>
            <a:r>
              <a:rPr lang="en-US" b="1" dirty="0">
                <a:solidFill>
                  <a:schemeClr val="tx2"/>
                </a:solidFill>
              </a:rPr>
              <a:t>Objective</a:t>
            </a:r>
          </a:p>
          <a:p>
            <a:pPr>
              <a:buNone/>
            </a:pPr>
            <a:r>
              <a:rPr lang="en-US" sz="1600" dirty="0"/>
              <a:t>The Investor Analytics Dashboard provides insights into investor demographics, investment behavior, transaction patterns, and KYC status. It helps understand how different investor segments contribute to overall investments.</a:t>
            </a:r>
          </a:p>
        </p:txBody>
      </p:sp>
      <p:sp>
        <p:nvSpPr>
          <p:cNvPr id="9" name="TextBox 8">
            <a:extLst>
              <a:ext uri="{FF2B5EF4-FFF2-40B4-BE49-F238E27FC236}">
                <a16:creationId xmlns:a16="http://schemas.microsoft.com/office/drawing/2014/main" id="{1BEA29A9-6386-EA00-D17A-5F06AE5BB914}"/>
              </a:ext>
            </a:extLst>
          </p:cNvPr>
          <p:cNvSpPr txBox="1"/>
          <p:nvPr/>
        </p:nvSpPr>
        <p:spPr>
          <a:xfrm>
            <a:off x="1077976" y="5110755"/>
            <a:ext cx="3559278" cy="1631216"/>
          </a:xfrm>
          <a:prstGeom prst="rect">
            <a:avLst/>
          </a:prstGeom>
          <a:noFill/>
        </p:spPr>
        <p:txBody>
          <a:bodyPr wrap="square">
            <a:spAutoFit/>
          </a:bodyPr>
          <a:lstStyle/>
          <a:p>
            <a:pPr>
              <a:buNone/>
            </a:pPr>
            <a:r>
              <a:rPr lang="en-US" b="1" dirty="0">
                <a:solidFill>
                  <a:schemeClr val="tx2"/>
                </a:solidFill>
              </a:rPr>
              <a:t>Key Performance Indicators (KPIs)</a:t>
            </a:r>
          </a:p>
          <a:p>
            <a:pPr>
              <a:buFont typeface="Arial" panose="020B0604020202020204" pitchFamily="34" charset="0"/>
              <a:buChar char="•"/>
            </a:pPr>
            <a:r>
              <a:rPr lang="en-US" sz="1600" dirty="0"/>
              <a:t>Total Investors: 5,000 </a:t>
            </a:r>
          </a:p>
          <a:p>
            <a:pPr>
              <a:buFont typeface="Arial" panose="020B0604020202020204" pitchFamily="34" charset="0"/>
              <a:buChar char="•"/>
            </a:pPr>
            <a:r>
              <a:rPr lang="en-US" sz="1600" dirty="0"/>
              <a:t>Total Investment: ₹3.52 Billion </a:t>
            </a:r>
          </a:p>
          <a:p>
            <a:pPr>
              <a:buFont typeface="Arial" panose="020B0604020202020204" pitchFamily="34" charset="0"/>
              <a:buChar char="•"/>
            </a:pPr>
            <a:r>
              <a:rPr lang="en-US" sz="1600" dirty="0"/>
              <a:t>Average Investment: ₹704.32K </a:t>
            </a:r>
          </a:p>
          <a:p>
            <a:pPr>
              <a:buFont typeface="Arial" panose="020B0604020202020204" pitchFamily="34" charset="0"/>
              <a:buChar char="•"/>
            </a:pPr>
            <a:r>
              <a:rPr lang="en-US" sz="1600" dirty="0"/>
              <a:t>Total Transactions: 32.78K</a:t>
            </a:r>
          </a:p>
        </p:txBody>
      </p:sp>
      <p:sp>
        <p:nvSpPr>
          <p:cNvPr id="12" name="TextBox 11">
            <a:extLst>
              <a:ext uri="{FF2B5EF4-FFF2-40B4-BE49-F238E27FC236}">
                <a16:creationId xmlns:a16="http://schemas.microsoft.com/office/drawing/2014/main" id="{4119FD02-79DC-CB76-8247-0D726EB5BBAD}"/>
              </a:ext>
            </a:extLst>
          </p:cNvPr>
          <p:cNvSpPr txBox="1"/>
          <p:nvPr/>
        </p:nvSpPr>
        <p:spPr>
          <a:xfrm>
            <a:off x="7554746" y="396007"/>
            <a:ext cx="3559278" cy="2831544"/>
          </a:xfrm>
          <a:prstGeom prst="rect">
            <a:avLst/>
          </a:prstGeom>
          <a:noFill/>
        </p:spPr>
        <p:txBody>
          <a:bodyPr wrap="square">
            <a:spAutoFit/>
          </a:bodyPr>
          <a:lstStyle/>
          <a:p>
            <a:pPr>
              <a:buNone/>
            </a:pPr>
            <a:r>
              <a:rPr lang="en-US" b="1" dirty="0">
                <a:solidFill>
                  <a:schemeClr val="tx2"/>
                </a:solidFill>
              </a:rPr>
              <a:t>Dashboard Highlights</a:t>
            </a:r>
          </a:p>
          <a:p>
            <a:pPr>
              <a:buFont typeface="Arial" panose="020B0604020202020204" pitchFamily="34" charset="0"/>
              <a:buChar char="•"/>
            </a:pPr>
            <a:r>
              <a:rPr lang="en-US" sz="1600" dirty="0"/>
              <a:t>Gender-wise Investor Distribution </a:t>
            </a:r>
          </a:p>
          <a:p>
            <a:pPr>
              <a:buFont typeface="Arial" panose="020B0604020202020204" pitchFamily="34" charset="0"/>
              <a:buChar char="•"/>
            </a:pPr>
            <a:r>
              <a:rPr lang="en-US" sz="1600" dirty="0"/>
              <a:t>Investors by Age Group </a:t>
            </a:r>
          </a:p>
          <a:p>
            <a:pPr>
              <a:buFont typeface="Arial" panose="020B0604020202020204" pitchFamily="34" charset="0"/>
              <a:buChar char="•"/>
            </a:pPr>
            <a:r>
              <a:rPr lang="en-US" sz="1600" dirty="0"/>
              <a:t>Investment by City </a:t>
            </a:r>
          </a:p>
          <a:p>
            <a:pPr>
              <a:buFont typeface="Arial" panose="020B0604020202020204" pitchFamily="34" charset="0"/>
              <a:buChar char="•"/>
            </a:pPr>
            <a:r>
              <a:rPr lang="en-US" sz="1600" dirty="0"/>
              <a:t>Investment by State </a:t>
            </a:r>
          </a:p>
          <a:p>
            <a:pPr>
              <a:buFont typeface="Arial" panose="020B0604020202020204" pitchFamily="34" charset="0"/>
              <a:buChar char="•"/>
            </a:pPr>
            <a:r>
              <a:rPr lang="en-US" sz="1600" dirty="0"/>
              <a:t>Payment Mode Analysis </a:t>
            </a:r>
          </a:p>
          <a:p>
            <a:pPr>
              <a:buFont typeface="Arial" panose="020B0604020202020204" pitchFamily="34" charset="0"/>
              <a:buChar char="•"/>
            </a:pPr>
            <a:r>
              <a:rPr lang="en-US" sz="1600" dirty="0"/>
              <a:t>Investor KYC Status </a:t>
            </a:r>
          </a:p>
          <a:p>
            <a:pPr>
              <a:buFont typeface="Arial" panose="020B0604020202020204" pitchFamily="34" charset="0"/>
              <a:buChar char="•"/>
            </a:pPr>
            <a:r>
              <a:rPr lang="en-US" sz="1600" dirty="0"/>
              <a:t>Interactive slicers for </a:t>
            </a:r>
            <a:r>
              <a:rPr lang="en-US" sz="1600" b="1" dirty="0"/>
              <a:t>City, State, Payment Mode, and Gender</a:t>
            </a:r>
            <a:r>
              <a:rPr lang="en-US" sz="1600" dirty="0"/>
              <a:t> </a:t>
            </a:r>
          </a:p>
          <a:p>
            <a:pPr>
              <a:buFont typeface="Arial" panose="020B0604020202020204" pitchFamily="34" charset="0"/>
              <a:buChar char="•"/>
            </a:pPr>
            <a:r>
              <a:rPr lang="en-US" sz="1600" dirty="0"/>
              <a:t>Dynamic dashboard title based on selected filters</a:t>
            </a:r>
          </a:p>
        </p:txBody>
      </p:sp>
      <p:sp>
        <p:nvSpPr>
          <p:cNvPr id="14" name="TextBox 13">
            <a:extLst>
              <a:ext uri="{FF2B5EF4-FFF2-40B4-BE49-F238E27FC236}">
                <a16:creationId xmlns:a16="http://schemas.microsoft.com/office/drawing/2014/main" id="{00BF084B-C05B-9660-135E-B13932AE1AE3}"/>
              </a:ext>
            </a:extLst>
          </p:cNvPr>
          <p:cNvSpPr txBox="1"/>
          <p:nvPr/>
        </p:nvSpPr>
        <p:spPr>
          <a:xfrm>
            <a:off x="7554746" y="3541094"/>
            <a:ext cx="3726426" cy="3139321"/>
          </a:xfrm>
          <a:prstGeom prst="rect">
            <a:avLst/>
          </a:prstGeom>
          <a:noFill/>
        </p:spPr>
        <p:txBody>
          <a:bodyPr wrap="square">
            <a:spAutoFit/>
          </a:bodyPr>
          <a:lstStyle/>
          <a:p>
            <a:pPr>
              <a:buNone/>
            </a:pPr>
            <a:r>
              <a:rPr lang="en-US" b="1" dirty="0">
                <a:solidFill>
                  <a:schemeClr val="tx2"/>
                </a:solidFill>
              </a:rPr>
              <a:t>Business Insights</a:t>
            </a:r>
          </a:p>
          <a:p>
            <a:pPr>
              <a:buFont typeface="Arial" panose="020B0604020202020204" pitchFamily="34" charset="0"/>
              <a:buChar char="•"/>
            </a:pPr>
            <a:r>
              <a:rPr lang="en-US" sz="1500" dirty="0"/>
              <a:t>Male investors account for approximately </a:t>
            </a:r>
            <a:r>
              <a:rPr lang="en-US" sz="1500" b="1" dirty="0"/>
              <a:t>67%</a:t>
            </a:r>
            <a:r>
              <a:rPr lang="en-US" sz="1500" dirty="0"/>
              <a:t> of the investor base. </a:t>
            </a:r>
          </a:p>
          <a:p>
            <a:pPr>
              <a:buFont typeface="Arial" panose="020B0604020202020204" pitchFamily="34" charset="0"/>
              <a:buChar char="•"/>
            </a:pPr>
            <a:r>
              <a:rPr lang="en-US" sz="1500" dirty="0"/>
              <a:t>The </a:t>
            </a:r>
            <a:r>
              <a:rPr lang="en-US" sz="1500" b="1" dirty="0"/>
              <a:t>26–35</a:t>
            </a:r>
            <a:r>
              <a:rPr lang="en-US" sz="1500" dirty="0"/>
              <a:t> age group contributes the highest number of investors. </a:t>
            </a:r>
          </a:p>
          <a:p>
            <a:pPr>
              <a:buFont typeface="Arial" panose="020B0604020202020204" pitchFamily="34" charset="0"/>
              <a:buChar char="•"/>
            </a:pPr>
            <a:r>
              <a:rPr lang="en-US" sz="1500" b="1" dirty="0"/>
              <a:t>Punjab</a:t>
            </a:r>
            <a:r>
              <a:rPr lang="en-US" sz="1500" dirty="0"/>
              <a:t> records the highest total investment among states. </a:t>
            </a:r>
          </a:p>
          <a:p>
            <a:pPr>
              <a:buFont typeface="Arial" panose="020B0604020202020204" pitchFamily="34" charset="0"/>
              <a:buChar char="•"/>
            </a:pPr>
            <a:r>
              <a:rPr lang="en-US" sz="1500" b="1" dirty="0"/>
              <a:t>Kolkata</a:t>
            </a:r>
            <a:r>
              <a:rPr lang="en-US" sz="1500" dirty="0"/>
              <a:t> and </a:t>
            </a:r>
            <a:r>
              <a:rPr lang="en-US" sz="1500" b="1" dirty="0"/>
              <a:t>Hyderabad</a:t>
            </a:r>
            <a:r>
              <a:rPr lang="en-US" sz="1500" dirty="0"/>
              <a:t> are among the leading cities by investment value. </a:t>
            </a:r>
          </a:p>
          <a:p>
            <a:pPr>
              <a:buFont typeface="Arial" panose="020B0604020202020204" pitchFamily="34" charset="0"/>
              <a:buChar char="•"/>
            </a:pPr>
            <a:r>
              <a:rPr lang="en-US" sz="1500" dirty="0"/>
              <a:t>Most investors have </a:t>
            </a:r>
            <a:r>
              <a:rPr lang="en-US" sz="1500" b="1" dirty="0"/>
              <a:t>Verified KYC</a:t>
            </a:r>
            <a:r>
              <a:rPr lang="en-US" sz="1500" dirty="0"/>
              <a:t>, indicating strong regulatory compliance. </a:t>
            </a:r>
          </a:p>
          <a:p>
            <a:pPr>
              <a:buFont typeface="Arial" panose="020B0604020202020204" pitchFamily="34" charset="0"/>
              <a:buChar char="•"/>
            </a:pPr>
            <a:r>
              <a:rPr lang="en-US" sz="1500" dirty="0"/>
              <a:t>Investments are distributed fairly evenly across different payment modes.</a:t>
            </a:r>
          </a:p>
        </p:txBody>
      </p:sp>
    </p:spTree>
    <p:extLst>
      <p:ext uri="{BB962C8B-B14F-4D97-AF65-F5344CB8AC3E}">
        <p14:creationId xmlns:p14="http://schemas.microsoft.com/office/powerpoint/2010/main" val="3566197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FB66F-D757-C700-A3A8-0944E8D34F75}"/>
              </a:ext>
            </a:extLst>
          </p:cNvPr>
          <p:cNvSpPr>
            <a:spLocks noGrp="1"/>
          </p:cNvSpPr>
          <p:nvPr>
            <p:ph type="title"/>
          </p:nvPr>
        </p:nvSpPr>
        <p:spPr>
          <a:xfrm>
            <a:off x="1064887" y="78658"/>
            <a:ext cx="6866489" cy="529131"/>
          </a:xfrm>
        </p:spPr>
        <p:txBody>
          <a:bodyPr>
            <a:normAutofit fontScale="90000"/>
          </a:bodyPr>
          <a:lstStyle/>
          <a:p>
            <a:pPr algn="l"/>
            <a:r>
              <a:rPr lang="en-US" b="1" dirty="0">
                <a:solidFill>
                  <a:schemeClr val="tx2"/>
                </a:solidFill>
              </a:rPr>
              <a:t>Market &amp; SIP Trends Dashboard</a:t>
            </a:r>
          </a:p>
        </p:txBody>
      </p:sp>
      <p:pic>
        <p:nvPicPr>
          <p:cNvPr id="5" name="Content Placeholder 4">
            <a:extLst>
              <a:ext uri="{FF2B5EF4-FFF2-40B4-BE49-F238E27FC236}">
                <a16:creationId xmlns:a16="http://schemas.microsoft.com/office/drawing/2014/main" id="{1E3AA8AB-8C1E-C896-1D5E-7800666FB000}"/>
              </a:ext>
            </a:extLst>
          </p:cNvPr>
          <p:cNvPicPr>
            <a:picLocks noGrp="1" noChangeAspect="1"/>
          </p:cNvPicPr>
          <p:nvPr>
            <p:ph idx="1"/>
          </p:nvPr>
        </p:nvPicPr>
        <p:blipFill>
          <a:blip r:embed="rId2"/>
          <a:stretch>
            <a:fillRect/>
          </a:stretch>
        </p:blipFill>
        <p:spPr>
          <a:xfrm>
            <a:off x="1064888" y="607790"/>
            <a:ext cx="6584610" cy="3148134"/>
          </a:xfrm>
          <a:prstGeom prst="rect">
            <a:avLst/>
          </a:prstGeom>
        </p:spPr>
      </p:pic>
      <p:sp>
        <p:nvSpPr>
          <p:cNvPr id="7" name="TextBox 6">
            <a:extLst>
              <a:ext uri="{FF2B5EF4-FFF2-40B4-BE49-F238E27FC236}">
                <a16:creationId xmlns:a16="http://schemas.microsoft.com/office/drawing/2014/main" id="{6794608F-268A-B231-E777-039B23AB113E}"/>
              </a:ext>
            </a:extLst>
          </p:cNvPr>
          <p:cNvSpPr txBox="1"/>
          <p:nvPr/>
        </p:nvSpPr>
        <p:spPr>
          <a:xfrm>
            <a:off x="1064887" y="3837404"/>
            <a:ext cx="6096000" cy="1354217"/>
          </a:xfrm>
          <a:prstGeom prst="rect">
            <a:avLst/>
          </a:prstGeom>
          <a:noFill/>
        </p:spPr>
        <p:txBody>
          <a:bodyPr wrap="square">
            <a:spAutoFit/>
          </a:bodyPr>
          <a:lstStyle/>
          <a:p>
            <a:pPr>
              <a:buNone/>
            </a:pPr>
            <a:r>
              <a:rPr lang="en-US" b="1" dirty="0">
                <a:solidFill>
                  <a:schemeClr val="tx2"/>
                </a:solidFill>
              </a:rPr>
              <a:t>Objective</a:t>
            </a:r>
          </a:p>
          <a:p>
            <a:pPr>
              <a:buNone/>
            </a:pPr>
            <a:r>
              <a:rPr lang="en-US" sz="1600" dirty="0"/>
              <a:t>The Market &amp; SIP Trends Dashboard analyzes SIP performance over time by tracking inflows, assets under management, account growth, and month-on-month market trends. It helps identify investment patterns and overall market movement.</a:t>
            </a:r>
          </a:p>
        </p:txBody>
      </p:sp>
      <p:sp>
        <p:nvSpPr>
          <p:cNvPr id="9" name="TextBox 8">
            <a:extLst>
              <a:ext uri="{FF2B5EF4-FFF2-40B4-BE49-F238E27FC236}">
                <a16:creationId xmlns:a16="http://schemas.microsoft.com/office/drawing/2014/main" id="{1B06A22A-1AB0-B226-02F9-E58B97BDCFD7}"/>
              </a:ext>
            </a:extLst>
          </p:cNvPr>
          <p:cNvSpPr txBox="1"/>
          <p:nvPr/>
        </p:nvSpPr>
        <p:spPr>
          <a:xfrm>
            <a:off x="1064887" y="5191621"/>
            <a:ext cx="6096000" cy="1354217"/>
          </a:xfrm>
          <a:prstGeom prst="rect">
            <a:avLst/>
          </a:prstGeom>
          <a:noFill/>
        </p:spPr>
        <p:txBody>
          <a:bodyPr wrap="square">
            <a:spAutoFit/>
          </a:bodyPr>
          <a:lstStyle/>
          <a:p>
            <a:pPr>
              <a:buNone/>
            </a:pPr>
            <a:r>
              <a:rPr lang="en-US" b="1" dirty="0">
                <a:solidFill>
                  <a:schemeClr val="tx2"/>
                </a:solidFill>
              </a:rPr>
              <a:t>Key Performance Indicators (KPIs)</a:t>
            </a:r>
          </a:p>
          <a:p>
            <a:pPr>
              <a:buFont typeface="Arial" panose="020B0604020202020204" pitchFamily="34" charset="0"/>
              <a:buChar char="•"/>
            </a:pPr>
            <a:r>
              <a:rPr lang="en-US" sz="1600" dirty="0"/>
              <a:t>Total SIP Inflow: 185K </a:t>
            </a:r>
          </a:p>
          <a:p>
            <a:pPr>
              <a:buFont typeface="Arial" panose="020B0604020202020204" pitchFamily="34" charset="0"/>
              <a:buChar char="•"/>
            </a:pPr>
            <a:r>
              <a:rPr lang="en-US" sz="1600" dirty="0"/>
              <a:t>Average SIP AUM: 6.44 </a:t>
            </a:r>
          </a:p>
          <a:p>
            <a:pPr>
              <a:buFont typeface="Arial" panose="020B0604020202020204" pitchFamily="34" charset="0"/>
              <a:buChar char="•"/>
            </a:pPr>
            <a:r>
              <a:rPr lang="en-US" sz="1600" dirty="0"/>
              <a:t>Active SIP Accounts: 79.31 </a:t>
            </a:r>
          </a:p>
          <a:p>
            <a:pPr>
              <a:buFont typeface="Arial" panose="020B0604020202020204" pitchFamily="34" charset="0"/>
              <a:buChar char="•"/>
            </a:pPr>
            <a:r>
              <a:rPr lang="en-US" sz="1600" dirty="0"/>
              <a:t>New SIP Accounts: 108.95</a:t>
            </a:r>
          </a:p>
        </p:txBody>
      </p:sp>
      <p:sp>
        <p:nvSpPr>
          <p:cNvPr id="11" name="TextBox 10">
            <a:extLst>
              <a:ext uri="{FF2B5EF4-FFF2-40B4-BE49-F238E27FC236}">
                <a16:creationId xmlns:a16="http://schemas.microsoft.com/office/drawing/2014/main" id="{495098F5-7E40-36DE-9CC8-2D17D6112DB8}"/>
              </a:ext>
            </a:extLst>
          </p:cNvPr>
          <p:cNvSpPr txBox="1"/>
          <p:nvPr/>
        </p:nvSpPr>
        <p:spPr>
          <a:xfrm>
            <a:off x="7649498" y="339603"/>
            <a:ext cx="3637934" cy="2585323"/>
          </a:xfrm>
          <a:prstGeom prst="rect">
            <a:avLst/>
          </a:prstGeom>
          <a:noFill/>
        </p:spPr>
        <p:txBody>
          <a:bodyPr wrap="square">
            <a:spAutoFit/>
          </a:bodyPr>
          <a:lstStyle/>
          <a:p>
            <a:pPr>
              <a:buNone/>
            </a:pPr>
            <a:r>
              <a:rPr lang="en-US" b="1" dirty="0">
                <a:solidFill>
                  <a:schemeClr val="tx2"/>
                </a:solidFill>
              </a:rPr>
              <a:t>Dashboard Highlights</a:t>
            </a:r>
          </a:p>
          <a:p>
            <a:pPr>
              <a:buFont typeface="Arial" panose="020B0604020202020204" pitchFamily="34" charset="0"/>
              <a:buChar char="•"/>
            </a:pPr>
            <a:r>
              <a:rPr lang="en-US" sz="1600" dirty="0"/>
              <a:t>SIP Inflow Trend by Month </a:t>
            </a:r>
          </a:p>
          <a:p>
            <a:pPr>
              <a:buFont typeface="Arial" panose="020B0604020202020204" pitchFamily="34" charset="0"/>
              <a:buChar char="•"/>
            </a:pPr>
            <a:r>
              <a:rPr lang="en-US" sz="1600" dirty="0"/>
              <a:t>SIP AUM Growth Trend </a:t>
            </a:r>
          </a:p>
          <a:p>
            <a:pPr>
              <a:buFont typeface="Arial" panose="020B0604020202020204" pitchFamily="34" charset="0"/>
              <a:buChar char="•"/>
            </a:pPr>
            <a:r>
              <a:rPr lang="en-US" sz="1600" dirty="0"/>
              <a:t>Active vs New SIP Accounts </a:t>
            </a:r>
          </a:p>
          <a:p>
            <a:pPr>
              <a:buFont typeface="Arial" panose="020B0604020202020204" pitchFamily="34" charset="0"/>
              <a:buChar char="•"/>
            </a:pPr>
            <a:r>
              <a:rPr lang="en-US" sz="1600" dirty="0"/>
              <a:t>Monthly SIP Trend </a:t>
            </a:r>
          </a:p>
          <a:p>
            <a:pPr>
              <a:buFont typeface="Arial" panose="020B0604020202020204" pitchFamily="34" charset="0"/>
              <a:buChar char="•"/>
            </a:pPr>
            <a:r>
              <a:rPr lang="en-US" sz="1600" dirty="0"/>
              <a:t>Month-on-Month Growth Percentage </a:t>
            </a:r>
          </a:p>
          <a:p>
            <a:pPr>
              <a:buFont typeface="Arial" panose="020B0604020202020204" pitchFamily="34" charset="0"/>
              <a:buChar char="•"/>
            </a:pPr>
            <a:r>
              <a:rPr lang="en-US" sz="1600" dirty="0"/>
              <a:t>Interactive slicers for </a:t>
            </a:r>
            <a:r>
              <a:rPr lang="en-US" sz="1600" b="1" dirty="0"/>
              <a:t>Year</a:t>
            </a:r>
            <a:r>
              <a:rPr lang="en-US" sz="1600" dirty="0"/>
              <a:t> and </a:t>
            </a:r>
            <a:r>
              <a:rPr lang="en-US" sz="1600" b="1" dirty="0"/>
              <a:t>Month-Year</a:t>
            </a:r>
            <a:r>
              <a:rPr lang="en-US" sz="1600" dirty="0"/>
              <a:t> </a:t>
            </a:r>
          </a:p>
          <a:p>
            <a:pPr>
              <a:buFont typeface="Arial" panose="020B0604020202020204" pitchFamily="34" charset="0"/>
              <a:buChar char="•"/>
            </a:pPr>
            <a:r>
              <a:rPr lang="en-US" sz="1600" dirty="0"/>
              <a:t>Dynamic dashboard title based on selected filters</a:t>
            </a:r>
          </a:p>
        </p:txBody>
      </p:sp>
      <p:sp>
        <p:nvSpPr>
          <p:cNvPr id="13" name="TextBox 12">
            <a:extLst>
              <a:ext uri="{FF2B5EF4-FFF2-40B4-BE49-F238E27FC236}">
                <a16:creationId xmlns:a16="http://schemas.microsoft.com/office/drawing/2014/main" id="{BD0257CF-4193-0D17-7390-CC9C31712D1B}"/>
              </a:ext>
            </a:extLst>
          </p:cNvPr>
          <p:cNvSpPr txBox="1"/>
          <p:nvPr/>
        </p:nvSpPr>
        <p:spPr>
          <a:xfrm>
            <a:off x="7649498" y="2962913"/>
            <a:ext cx="3637934" cy="3816429"/>
          </a:xfrm>
          <a:prstGeom prst="rect">
            <a:avLst/>
          </a:prstGeom>
          <a:noFill/>
        </p:spPr>
        <p:txBody>
          <a:bodyPr wrap="square">
            <a:spAutoFit/>
          </a:bodyPr>
          <a:lstStyle/>
          <a:p>
            <a:pPr>
              <a:buNone/>
            </a:pPr>
            <a:r>
              <a:rPr lang="en-US" b="1" dirty="0">
                <a:solidFill>
                  <a:schemeClr val="tx2"/>
                </a:solidFill>
              </a:rPr>
              <a:t>Business Insights</a:t>
            </a:r>
          </a:p>
          <a:p>
            <a:pPr>
              <a:buFont typeface="Arial" panose="020B0604020202020204" pitchFamily="34" charset="0"/>
              <a:buChar char="•"/>
            </a:pPr>
            <a:r>
              <a:rPr lang="en-US" sz="1600" dirty="0"/>
              <a:t>SIP AUM shows a steady upward trend throughout the year. </a:t>
            </a:r>
          </a:p>
          <a:p>
            <a:pPr>
              <a:buFont typeface="Arial" panose="020B0604020202020204" pitchFamily="34" charset="0"/>
              <a:buChar char="•"/>
            </a:pPr>
            <a:r>
              <a:rPr lang="en-US" sz="1600" dirty="0"/>
              <a:t>Active SIP accounts remain consistently high, indicating sustained investor participation. </a:t>
            </a:r>
          </a:p>
          <a:p>
            <a:pPr>
              <a:buFont typeface="Arial" panose="020B0604020202020204" pitchFamily="34" charset="0"/>
              <a:buChar char="•"/>
            </a:pPr>
            <a:r>
              <a:rPr lang="en-US" sz="1600" dirty="0"/>
              <a:t>New SIP account registrations fluctuate monthly, reflecting changing market activity. </a:t>
            </a:r>
          </a:p>
          <a:p>
            <a:pPr>
              <a:buFont typeface="Arial" panose="020B0604020202020204" pitchFamily="34" charset="0"/>
              <a:buChar char="•"/>
            </a:pPr>
            <a:r>
              <a:rPr lang="en-US" sz="1600" dirty="0"/>
              <a:t>Month-on-month growth highlights periods of positive and negative market momentum. </a:t>
            </a:r>
          </a:p>
          <a:p>
            <a:pPr>
              <a:buFont typeface="Arial" panose="020B0604020202020204" pitchFamily="34" charset="0"/>
              <a:buChar char="•"/>
            </a:pPr>
            <a:r>
              <a:rPr lang="en-US" sz="1600" dirty="0"/>
              <a:t>Time-based analysis helps identify seasonal investment patterns and overall SIP growth.</a:t>
            </a:r>
          </a:p>
        </p:txBody>
      </p:sp>
    </p:spTree>
    <p:extLst>
      <p:ext uri="{BB962C8B-B14F-4D97-AF65-F5344CB8AC3E}">
        <p14:creationId xmlns:p14="http://schemas.microsoft.com/office/powerpoint/2010/main" val="1624396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02D74-022C-8A05-6C17-325C3F9EE1D0}"/>
              </a:ext>
            </a:extLst>
          </p:cNvPr>
          <p:cNvSpPr>
            <a:spLocks noGrp="1"/>
          </p:cNvSpPr>
          <p:nvPr>
            <p:ph type="title"/>
          </p:nvPr>
        </p:nvSpPr>
        <p:spPr>
          <a:xfrm>
            <a:off x="1087809" y="80470"/>
            <a:ext cx="4408424" cy="499634"/>
          </a:xfrm>
        </p:spPr>
        <p:txBody>
          <a:bodyPr>
            <a:normAutofit fontScale="90000"/>
          </a:bodyPr>
          <a:lstStyle/>
          <a:p>
            <a:pPr algn="l"/>
            <a:r>
              <a:rPr lang="en-US" b="1" dirty="0">
                <a:solidFill>
                  <a:schemeClr val="tx2"/>
                </a:solidFill>
              </a:rPr>
              <a:t>Key Business Insights</a:t>
            </a:r>
          </a:p>
        </p:txBody>
      </p:sp>
      <p:sp>
        <p:nvSpPr>
          <p:cNvPr id="3" name="Content Placeholder 2">
            <a:extLst>
              <a:ext uri="{FF2B5EF4-FFF2-40B4-BE49-F238E27FC236}">
                <a16:creationId xmlns:a16="http://schemas.microsoft.com/office/drawing/2014/main" id="{55F4AEB0-744F-C2D9-A11A-83CE45653226}"/>
              </a:ext>
            </a:extLst>
          </p:cNvPr>
          <p:cNvSpPr>
            <a:spLocks noGrp="1"/>
          </p:cNvSpPr>
          <p:nvPr>
            <p:ph idx="1"/>
          </p:nvPr>
        </p:nvSpPr>
        <p:spPr>
          <a:xfrm>
            <a:off x="1087809" y="734592"/>
            <a:ext cx="5607959" cy="5882517"/>
          </a:xfrm>
        </p:spPr>
        <p:txBody>
          <a:bodyPr>
            <a:normAutofit fontScale="55000" lnSpcReduction="20000"/>
          </a:bodyPr>
          <a:lstStyle/>
          <a:p>
            <a:r>
              <a:rPr lang="en-US" b="1" dirty="0">
                <a:solidFill>
                  <a:schemeClr val="accent6"/>
                </a:solidFill>
              </a:rPr>
              <a:t>Fund Performance</a:t>
            </a:r>
          </a:p>
          <a:p>
            <a:pPr marL="6160" indent="0">
              <a:buNone/>
            </a:pPr>
            <a:r>
              <a:rPr lang="en-US" sz="2200" dirty="0"/>
              <a:t>SBI Mutual Fund recorded the highest Assets Under Management (AUM). </a:t>
            </a:r>
          </a:p>
          <a:p>
            <a:pPr marL="6160" indent="0">
              <a:buNone/>
            </a:pPr>
            <a:r>
              <a:rPr lang="en-US" sz="2200" dirty="0"/>
              <a:t>Flexi Cap and Large &amp; Mid Cap categories demonstrated strong investment performance. </a:t>
            </a:r>
          </a:p>
          <a:p>
            <a:pPr marL="6160" indent="0">
              <a:buNone/>
            </a:pPr>
            <a:r>
              <a:rPr lang="en-US" sz="2200" dirty="0"/>
              <a:t>Higher risk funds generally delivered better long-term returns. </a:t>
            </a:r>
          </a:p>
          <a:p>
            <a:r>
              <a:rPr lang="en-US" b="1" dirty="0"/>
              <a:t> </a:t>
            </a:r>
            <a:r>
              <a:rPr lang="en-US" b="1" dirty="0">
                <a:solidFill>
                  <a:schemeClr val="accent6"/>
                </a:solidFill>
              </a:rPr>
              <a:t>Investor Analytics</a:t>
            </a:r>
          </a:p>
          <a:p>
            <a:pPr marL="6160" indent="0">
              <a:buNone/>
            </a:pPr>
            <a:r>
              <a:rPr lang="en-US" sz="2200" dirty="0"/>
              <a:t>Total investor base reached </a:t>
            </a:r>
            <a:r>
              <a:rPr lang="en-US" sz="2200" b="1" dirty="0"/>
              <a:t>5,000</a:t>
            </a:r>
            <a:r>
              <a:rPr lang="en-US" sz="2200" dirty="0"/>
              <a:t>. </a:t>
            </a:r>
          </a:p>
          <a:p>
            <a:pPr marL="6160" indent="0">
              <a:buNone/>
            </a:pPr>
            <a:r>
              <a:rPr lang="en-US" sz="2200" dirty="0"/>
              <a:t>The </a:t>
            </a:r>
            <a:r>
              <a:rPr lang="en-US" sz="2200" b="1" dirty="0"/>
              <a:t>26–35</a:t>
            </a:r>
            <a:r>
              <a:rPr lang="en-US" sz="2200" dirty="0"/>
              <a:t> age group contributed the largest share of investors. </a:t>
            </a:r>
          </a:p>
          <a:p>
            <a:pPr marL="6160" indent="0">
              <a:buNone/>
            </a:pPr>
            <a:r>
              <a:rPr lang="en-US" sz="2200" dirty="0"/>
              <a:t>Male investors accounted for nearly </a:t>
            </a:r>
            <a:r>
              <a:rPr lang="en-US" sz="2200" b="1" dirty="0"/>
              <a:t>67%</a:t>
            </a:r>
            <a:r>
              <a:rPr lang="en-US" sz="2200" dirty="0"/>
              <a:t> of the investor population. </a:t>
            </a:r>
          </a:p>
          <a:p>
            <a:pPr marL="6160" indent="0">
              <a:buNone/>
            </a:pPr>
            <a:r>
              <a:rPr lang="en-US" sz="2200" dirty="0"/>
              <a:t>Punjab and major metropolitan cities contributed significantly to total investments. </a:t>
            </a:r>
          </a:p>
          <a:p>
            <a:pPr marL="6160" indent="0">
              <a:buNone/>
            </a:pPr>
            <a:r>
              <a:rPr lang="en-US" sz="2200" dirty="0"/>
              <a:t>Most investors had </a:t>
            </a:r>
            <a:r>
              <a:rPr lang="en-US" sz="2200" b="1" dirty="0"/>
              <a:t>Verified KYC</a:t>
            </a:r>
            <a:r>
              <a:rPr lang="en-US" sz="2200" dirty="0"/>
              <a:t>, ensuring strong compliance. </a:t>
            </a:r>
          </a:p>
          <a:p>
            <a:r>
              <a:rPr lang="en-US" b="1" dirty="0">
                <a:solidFill>
                  <a:schemeClr val="accent6"/>
                </a:solidFill>
              </a:rPr>
              <a:t> SIP &amp; Market Trends</a:t>
            </a:r>
          </a:p>
          <a:p>
            <a:pPr marL="6160" indent="0">
              <a:buNone/>
            </a:pPr>
            <a:r>
              <a:rPr lang="en-US" sz="2200" dirty="0"/>
              <a:t>SIP inflows remained stable throughout the year. </a:t>
            </a:r>
          </a:p>
          <a:p>
            <a:pPr marL="6160" indent="0">
              <a:buNone/>
            </a:pPr>
            <a:r>
              <a:rPr lang="en-US" sz="2200" dirty="0"/>
              <a:t>SIP AUM showed continuous growth, indicating increasing investor confidence. </a:t>
            </a:r>
          </a:p>
          <a:p>
            <a:pPr marL="6160" indent="0">
              <a:buNone/>
            </a:pPr>
            <a:r>
              <a:rPr lang="en-US" sz="2200" dirty="0"/>
              <a:t>Active SIP accounts consistently exceeded new SIP registrations. </a:t>
            </a:r>
          </a:p>
          <a:p>
            <a:pPr marL="6160" indent="0">
              <a:buNone/>
            </a:pPr>
            <a:r>
              <a:rPr lang="en-US" sz="2200" dirty="0"/>
              <a:t>Monthly growth analysis revealed periods of both positive and negative market momentum.</a:t>
            </a:r>
          </a:p>
          <a:p>
            <a:endParaRPr lang="en-US" dirty="0"/>
          </a:p>
        </p:txBody>
      </p:sp>
      <p:sp>
        <p:nvSpPr>
          <p:cNvPr id="5" name="TextBox 4">
            <a:extLst>
              <a:ext uri="{FF2B5EF4-FFF2-40B4-BE49-F238E27FC236}">
                <a16:creationId xmlns:a16="http://schemas.microsoft.com/office/drawing/2014/main" id="{7959AEE8-8502-6508-D07A-A3BE08C9C492}"/>
              </a:ext>
            </a:extLst>
          </p:cNvPr>
          <p:cNvSpPr txBox="1"/>
          <p:nvPr/>
        </p:nvSpPr>
        <p:spPr>
          <a:xfrm>
            <a:off x="6695768" y="580104"/>
            <a:ext cx="4552334" cy="2831544"/>
          </a:xfrm>
          <a:prstGeom prst="rect">
            <a:avLst/>
          </a:prstGeom>
          <a:noFill/>
        </p:spPr>
        <p:txBody>
          <a:bodyPr wrap="square">
            <a:spAutoFit/>
          </a:bodyPr>
          <a:lstStyle/>
          <a:p>
            <a:pPr>
              <a:buNone/>
            </a:pPr>
            <a:r>
              <a:rPr lang="en-US" b="1" dirty="0">
                <a:solidFill>
                  <a:schemeClr val="accent6"/>
                </a:solidFill>
              </a:rPr>
              <a:t>Recommendations</a:t>
            </a:r>
          </a:p>
          <a:p>
            <a:pPr>
              <a:buFont typeface="Arial" panose="020B0604020202020204" pitchFamily="34" charset="0"/>
              <a:buChar char="•"/>
            </a:pPr>
            <a:r>
              <a:rPr lang="en-US" sz="1600" dirty="0"/>
              <a:t>Increase awareness campaigns targeting younger investors (18–25 years). </a:t>
            </a:r>
          </a:p>
          <a:p>
            <a:pPr>
              <a:buFont typeface="Arial" panose="020B0604020202020204" pitchFamily="34" charset="0"/>
              <a:buChar char="•"/>
            </a:pPr>
            <a:r>
              <a:rPr lang="en-US" sz="1600" dirty="0"/>
              <a:t>Promote high-performing fund categories to potential investors. </a:t>
            </a:r>
          </a:p>
          <a:p>
            <a:pPr>
              <a:buFont typeface="Arial" panose="020B0604020202020204" pitchFamily="34" charset="0"/>
              <a:buChar char="•"/>
            </a:pPr>
            <a:r>
              <a:rPr lang="en-US" sz="1600" dirty="0"/>
              <a:t>Expand marketing efforts in states and cities with lower investment participation. </a:t>
            </a:r>
          </a:p>
          <a:p>
            <a:pPr>
              <a:buFont typeface="Arial" panose="020B0604020202020204" pitchFamily="34" charset="0"/>
              <a:buChar char="•"/>
            </a:pPr>
            <a:r>
              <a:rPr lang="en-US" sz="1600" dirty="0"/>
              <a:t>Encourage digital payment methods to simplify investment transactions. </a:t>
            </a:r>
          </a:p>
          <a:p>
            <a:pPr>
              <a:buFont typeface="Arial" panose="020B0604020202020204" pitchFamily="34" charset="0"/>
              <a:buChar char="•"/>
            </a:pPr>
            <a:r>
              <a:rPr lang="en-US" sz="1600" dirty="0"/>
              <a:t>Continue improving KYC verification processes for a smoother onboarding experience.</a:t>
            </a:r>
          </a:p>
        </p:txBody>
      </p:sp>
    </p:spTree>
    <p:extLst>
      <p:ext uri="{BB962C8B-B14F-4D97-AF65-F5344CB8AC3E}">
        <p14:creationId xmlns:p14="http://schemas.microsoft.com/office/powerpoint/2010/main" val="1580941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BCEB1-CE4E-CB9E-735E-4F78E308A771}"/>
              </a:ext>
            </a:extLst>
          </p:cNvPr>
          <p:cNvSpPr>
            <a:spLocks noGrp="1"/>
          </p:cNvSpPr>
          <p:nvPr>
            <p:ph type="title"/>
          </p:nvPr>
        </p:nvSpPr>
        <p:spPr>
          <a:xfrm>
            <a:off x="1058312" y="141273"/>
            <a:ext cx="6325715" cy="666783"/>
          </a:xfrm>
        </p:spPr>
        <p:txBody>
          <a:bodyPr/>
          <a:lstStyle/>
          <a:p>
            <a:pPr algn="l"/>
            <a:r>
              <a:rPr lang="en-US" b="1" dirty="0">
                <a:solidFill>
                  <a:schemeClr val="tx2"/>
                </a:solidFill>
              </a:rPr>
              <a:t>Conclusion &amp; Future Scope</a:t>
            </a:r>
          </a:p>
        </p:txBody>
      </p:sp>
      <p:sp>
        <p:nvSpPr>
          <p:cNvPr id="3" name="Content Placeholder 2">
            <a:extLst>
              <a:ext uri="{FF2B5EF4-FFF2-40B4-BE49-F238E27FC236}">
                <a16:creationId xmlns:a16="http://schemas.microsoft.com/office/drawing/2014/main" id="{C5B5C46D-2B4A-FDAD-5A8D-63096689B404}"/>
              </a:ext>
            </a:extLst>
          </p:cNvPr>
          <p:cNvSpPr>
            <a:spLocks noGrp="1"/>
          </p:cNvSpPr>
          <p:nvPr>
            <p:ph idx="1"/>
          </p:nvPr>
        </p:nvSpPr>
        <p:spPr>
          <a:xfrm>
            <a:off x="1200438" y="808056"/>
            <a:ext cx="7796540" cy="5908671"/>
          </a:xfrm>
        </p:spPr>
        <p:txBody>
          <a:bodyPr>
            <a:normAutofit fontScale="77500" lnSpcReduction="20000"/>
          </a:bodyPr>
          <a:lstStyle/>
          <a:p>
            <a:r>
              <a:rPr lang="en-US" b="1" dirty="0">
                <a:solidFill>
                  <a:schemeClr val="accent6"/>
                </a:solidFill>
              </a:rPr>
              <a:t>Conclusion</a:t>
            </a:r>
          </a:p>
          <a:p>
            <a:pPr marL="6160" indent="0">
              <a:buNone/>
            </a:pPr>
            <a:r>
              <a:rPr lang="en-US" dirty="0"/>
              <a:t>Successfully developed an end-to-end Mutual Fund Analytics solution using Python, PostgreSQL, and Power BI.</a:t>
            </a:r>
          </a:p>
          <a:p>
            <a:pPr marL="6160" indent="0">
              <a:buNone/>
            </a:pPr>
            <a:r>
              <a:rPr lang="en-US" dirty="0"/>
              <a:t>Cleaned and transformed raw datasets to ensure accurate and reliable analysis.</a:t>
            </a:r>
          </a:p>
          <a:p>
            <a:pPr marL="6160" indent="0">
              <a:buNone/>
            </a:pPr>
            <a:r>
              <a:rPr lang="en-US" dirty="0"/>
              <a:t>Built four interactive dashboards to analyze fund performance, investor behavior, and SIP trends.</a:t>
            </a:r>
          </a:p>
          <a:p>
            <a:pPr marL="6160" indent="0">
              <a:buNone/>
            </a:pPr>
            <a:r>
              <a:rPr lang="en-US" dirty="0"/>
              <a:t>Created dynamic KPIs, DAX measures, and interactive filters for an enhanced user experience.</a:t>
            </a:r>
          </a:p>
          <a:p>
            <a:pPr marL="6160" indent="0">
              <a:buNone/>
            </a:pPr>
            <a:r>
              <a:rPr lang="en-US" dirty="0"/>
              <a:t>The dashboard enables stakeholders to monitor investment trends and make informed, data-driven decisions.</a:t>
            </a:r>
          </a:p>
          <a:p>
            <a:r>
              <a:rPr lang="en-US" b="1" dirty="0">
                <a:solidFill>
                  <a:schemeClr val="accent6"/>
                </a:solidFill>
              </a:rPr>
              <a:t>Future Scope</a:t>
            </a:r>
          </a:p>
          <a:p>
            <a:pPr marL="6160" indent="0">
              <a:buNone/>
            </a:pPr>
            <a:r>
              <a:rPr lang="en-US" dirty="0"/>
              <a:t>Integrate live mutual fund data using APIs for real-time analytics.</a:t>
            </a:r>
          </a:p>
          <a:p>
            <a:pPr marL="6160" indent="0">
              <a:buNone/>
            </a:pPr>
            <a:r>
              <a:rPr lang="en-US" dirty="0"/>
              <a:t>Add predictive models to forecast SIP growth and fund performance.</a:t>
            </a:r>
          </a:p>
          <a:p>
            <a:pPr marL="6160" indent="0">
              <a:buNone/>
            </a:pPr>
            <a:r>
              <a:rPr lang="en-US" dirty="0"/>
              <a:t>Incorporate advanced financial metrics such as CAGR, XIRR, and rolling returns.</a:t>
            </a:r>
          </a:p>
          <a:p>
            <a:pPr marL="6160" indent="0">
              <a:buNone/>
            </a:pPr>
            <a:r>
              <a:rPr lang="en-US" dirty="0"/>
              <a:t>Publish the dashboard on Power BI Service with scheduled data refresh.</a:t>
            </a:r>
          </a:p>
          <a:p>
            <a:pPr marL="6160" indent="0">
              <a:buNone/>
            </a:pPr>
            <a:r>
              <a:rPr lang="en-US" dirty="0"/>
              <a:t>Implement role-based access control and row-level security for enterprise deployment.</a:t>
            </a:r>
          </a:p>
          <a:p>
            <a:endParaRPr lang="en-US" dirty="0"/>
          </a:p>
        </p:txBody>
      </p:sp>
    </p:spTree>
    <p:extLst>
      <p:ext uri="{BB962C8B-B14F-4D97-AF65-F5344CB8AC3E}">
        <p14:creationId xmlns:p14="http://schemas.microsoft.com/office/powerpoint/2010/main" val="2949437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3FE28-5838-4538-E148-AE4E4364795E}"/>
              </a:ext>
            </a:extLst>
          </p:cNvPr>
          <p:cNvSpPr>
            <a:spLocks noGrp="1"/>
          </p:cNvSpPr>
          <p:nvPr>
            <p:ph type="title"/>
          </p:nvPr>
        </p:nvSpPr>
        <p:spPr>
          <a:xfrm>
            <a:off x="4670321" y="1584805"/>
            <a:ext cx="3205317" cy="1077229"/>
          </a:xfrm>
        </p:spPr>
        <p:txBody>
          <a:bodyPr>
            <a:noAutofit/>
          </a:bodyPr>
          <a:lstStyle/>
          <a:p>
            <a:pPr algn="ctr"/>
            <a:r>
              <a:rPr lang="en-US" sz="4000" b="1" dirty="0">
                <a:solidFill>
                  <a:schemeClr val="tx2"/>
                </a:solidFill>
              </a:rPr>
              <a:t>Thank</a:t>
            </a:r>
            <a:r>
              <a:rPr lang="en-US" sz="4000" b="1" dirty="0"/>
              <a:t> </a:t>
            </a:r>
            <a:r>
              <a:rPr lang="en-US" sz="4000" b="1" dirty="0">
                <a:solidFill>
                  <a:schemeClr val="tx2"/>
                </a:solidFill>
              </a:rPr>
              <a:t>You</a:t>
            </a:r>
          </a:p>
        </p:txBody>
      </p:sp>
      <p:sp>
        <p:nvSpPr>
          <p:cNvPr id="3" name="Content Placeholder 2">
            <a:extLst>
              <a:ext uri="{FF2B5EF4-FFF2-40B4-BE49-F238E27FC236}">
                <a16:creationId xmlns:a16="http://schemas.microsoft.com/office/drawing/2014/main" id="{A3795D13-1AF9-351D-D87D-3A9D71762512}"/>
              </a:ext>
            </a:extLst>
          </p:cNvPr>
          <p:cNvSpPr>
            <a:spLocks noGrp="1"/>
          </p:cNvSpPr>
          <p:nvPr>
            <p:ph idx="1"/>
          </p:nvPr>
        </p:nvSpPr>
        <p:spPr>
          <a:xfrm>
            <a:off x="2532026" y="3429000"/>
            <a:ext cx="7796540" cy="2679888"/>
          </a:xfrm>
        </p:spPr>
        <p:txBody>
          <a:bodyPr>
            <a:normAutofit/>
          </a:bodyPr>
          <a:lstStyle/>
          <a:p>
            <a:pPr marL="6160" indent="0" algn="ctr">
              <a:buNone/>
            </a:pPr>
            <a:r>
              <a:rPr lang="en-US" sz="3200" b="1" dirty="0">
                <a:solidFill>
                  <a:schemeClr val="accent6"/>
                </a:solidFill>
              </a:rPr>
              <a:t>Mutual Fund Analytics Dashboard</a:t>
            </a:r>
          </a:p>
          <a:p>
            <a:pPr marL="6160" indent="0" algn="ctr">
              <a:buNone/>
            </a:pPr>
            <a:r>
              <a:rPr lang="en-US" sz="1800" b="1" dirty="0"/>
              <a:t>Swapnil Singh</a:t>
            </a:r>
            <a:endParaRPr lang="en-US" sz="1800" dirty="0"/>
          </a:p>
          <a:p>
            <a:pPr marL="6160" indent="0" algn="ctr">
              <a:buNone/>
            </a:pPr>
            <a:r>
              <a:rPr lang="en-US" sz="1800" dirty="0"/>
              <a:t>📧 Email: </a:t>
            </a:r>
            <a:r>
              <a:rPr lang="en-US" sz="1800" dirty="0">
                <a:hlinkClick r:id="rId2"/>
              </a:rPr>
              <a:t>your.email@example.com</a:t>
            </a:r>
            <a:endParaRPr lang="en-US" sz="1800" dirty="0"/>
          </a:p>
          <a:p>
            <a:pPr marL="6160" indent="0" algn="ctr">
              <a:buNone/>
            </a:pPr>
            <a:r>
              <a:rPr lang="en-US" sz="1800" dirty="0"/>
              <a:t>🔗 LinkedIn: linkedin.com/in/your-profile</a:t>
            </a:r>
          </a:p>
          <a:p>
            <a:pPr marL="6160" indent="0" algn="ctr">
              <a:buNone/>
            </a:pPr>
            <a:r>
              <a:rPr lang="en-US" sz="1800" dirty="0"/>
              <a:t>💻 GitHub: github.com/your-username</a:t>
            </a:r>
          </a:p>
          <a:p>
            <a:pPr marL="6160" indent="0" algn="ctr">
              <a:buNone/>
            </a:pPr>
            <a:endParaRPr lang="en-US" sz="3200" b="1" dirty="0">
              <a:solidFill>
                <a:schemeClr val="accent6"/>
              </a:solidFill>
            </a:endParaRPr>
          </a:p>
        </p:txBody>
      </p:sp>
    </p:spTree>
    <p:extLst>
      <p:ext uri="{BB962C8B-B14F-4D97-AF65-F5344CB8AC3E}">
        <p14:creationId xmlns:p14="http://schemas.microsoft.com/office/powerpoint/2010/main" val="29592195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82E"/>
      </a:dk2>
      <a:lt2>
        <a:srgbClr val="C2F5FC"/>
      </a:lt2>
      <a:accent1>
        <a:srgbClr val="4091F3"/>
      </a:accent1>
      <a:accent2>
        <a:srgbClr val="8BBCF1"/>
      </a:accent2>
      <a:accent3>
        <a:srgbClr val="CB6A6A"/>
      </a:accent3>
      <a:accent4>
        <a:srgbClr val="C567AF"/>
      </a:accent4>
      <a:accent5>
        <a:srgbClr val="A684F9"/>
      </a:accent5>
      <a:accent6>
        <a:srgbClr val="A9ACEE"/>
      </a:accent6>
      <a:hlink>
        <a:srgbClr val="6D9CC5"/>
      </a:hlink>
      <a:folHlink>
        <a:srgbClr val="6D82A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178B2DAB-5DDE-4060-A857-D2E1CDA9250F}"/>
    </a:ext>
  </a:extLst>
</a:theme>
</file>

<file path=docProps/app.xml><?xml version="1.0" encoding="utf-8"?>
<Properties xmlns="http://schemas.openxmlformats.org/officeDocument/2006/extended-properties" xmlns:vt="http://schemas.openxmlformats.org/officeDocument/2006/docPropsVTypes">
  <Template>Madison</Template>
  <TotalTime>393</TotalTime>
  <Words>1351</Words>
  <Application>Microsoft Office PowerPoint</Application>
  <PresentationFormat>Widescreen</PresentationFormat>
  <Paragraphs>198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MS Shell Dlg 2</vt:lpstr>
      <vt:lpstr>Wingdings</vt:lpstr>
      <vt:lpstr>Wingdings 3</vt:lpstr>
      <vt:lpstr>Madison</vt:lpstr>
      <vt:lpstr>Mutual Fund Analytics Dashboard</vt:lpstr>
      <vt:lpstr>Project Overview</vt:lpstr>
      <vt:lpstr>Technology Stack  Python PostgreSQL Power BI Excel</vt:lpstr>
      <vt:lpstr>Problem Statement &amp; Solution</vt:lpstr>
      <vt:lpstr>Overview Dashboard</vt:lpstr>
      <vt:lpstr>Fund Performance Dashboard</vt:lpstr>
      <vt:lpstr>Investor Analytics Dashboard</vt:lpstr>
      <vt:lpstr>Market &amp; SIP Trends Dashboard</vt:lpstr>
      <vt:lpstr>Key Business Insights</vt:lpstr>
      <vt:lpstr>Conclusion &amp;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Swapnil singh</dc:creator>
  <cp:lastModifiedBy>Swapnil singh</cp:lastModifiedBy>
  <cp:revision>4</cp:revision>
  <dcterms:created xsi:type="dcterms:W3CDTF">2026-06-27T15:19:14Z</dcterms:created>
  <dcterms:modified xsi:type="dcterms:W3CDTF">2026-06-28T15:21:37Z</dcterms:modified>
</cp:coreProperties>
</file>